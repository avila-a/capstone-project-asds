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33"/>
  </p:notesMasterIdLst>
  <p:handoutMasterIdLst>
    <p:handoutMasterId r:id="rId34"/>
  </p:handoutMasterIdLst>
  <p:sldIdLst>
    <p:sldId id="256" r:id="rId2"/>
    <p:sldId id="321" r:id="rId3"/>
    <p:sldId id="308" r:id="rId4"/>
    <p:sldId id="283" r:id="rId5"/>
    <p:sldId id="336" r:id="rId6"/>
    <p:sldId id="335" r:id="rId7"/>
    <p:sldId id="325" r:id="rId8"/>
    <p:sldId id="301" r:id="rId9"/>
    <p:sldId id="307" r:id="rId10"/>
    <p:sldId id="322" r:id="rId11"/>
    <p:sldId id="323" r:id="rId12"/>
    <p:sldId id="324" r:id="rId13"/>
    <p:sldId id="287" r:id="rId14"/>
    <p:sldId id="319" r:id="rId15"/>
    <p:sldId id="291" r:id="rId16"/>
    <p:sldId id="298" r:id="rId17"/>
    <p:sldId id="337" r:id="rId18"/>
    <p:sldId id="304" r:id="rId19"/>
    <p:sldId id="334" r:id="rId20"/>
    <p:sldId id="289" r:id="rId21"/>
    <p:sldId id="302" r:id="rId22"/>
    <p:sldId id="332" r:id="rId23"/>
    <p:sldId id="305" r:id="rId24"/>
    <p:sldId id="326" r:id="rId25"/>
    <p:sldId id="327" r:id="rId26"/>
    <p:sldId id="340" r:id="rId27"/>
    <p:sldId id="333" r:id="rId28"/>
    <p:sldId id="328" r:id="rId29"/>
    <p:sldId id="329" r:id="rId30"/>
    <p:sldId id="338" r:id="rId31"/>
    <p:sldId id="339" r:id="rId32"/>
  </p:sldIdLst>
  <p:sldSz cx="9144000" cy="6858000" type="screen4x3"/>
  <p:notesSz cx="6797675" cy="9928225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0000"/>
    <a:srgbClr val="3399FF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74101" autoAdjust="0"/>
  </p:normalViewPr>
  <p:slideViewPr>
    <p:cSldViewPr>
      <p:cViewPr varScale="1">
        <p:scale>
          <a:sx n="95" d="100"/>
          <a:sy n="95" d="100"/>
        </p:scale>
        <p:origin x="165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2312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18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487" y="0"/>
            <a:ext cx="294618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1814"/>
            <a:ext cx="294618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487" y="9431814"/>
            <a:ext cx="294618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1">
                <a:latin typeface="Times New Roman" panose="02020603050405020304" pitchFamily="18" charset="0"/>
              </a:defRPr>
            </a:lvl1pPr>
          </a:lstStyle>
          <a:p>
            <a:fld id="{46653639-4692-4324-9B94-F2BB03176C1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58624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18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87" y="0"/>
            <a:ext cx="294618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887" y="4717499"/>
            <a:ext cx="4983903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Click to edit Master text styles</a:t>
            </a:r>
          </a:p>
          <a:p>
            <a:pPr lvl="1"/>
            <a:r>
              <a:rPr lang="en-GB" altLang="en-US" noProof="0"/>
              <a:t>Second level</a:t>
            </a:r>
          </a:p>
          <a:p>
            <a:pPr lvl="2"/>
            <a:r>
              <a:rPr lang="en-GB" altLang="en-US" noProof="0"/>
              <a:t>Third level</a:t>
            </a:r>
          </a:p>
          <a:p>
            <a:pPr lvl="3"/>
            <a:r>
              <a:rPr lang="en-GB" altLang="en-US" noProof="0"/>
              <a:t>Fourth level</a:t>
            </a:r>
          </a:p>
          <a:p>
            <a:pPr lvl="4"/>
            <a:r>
              <a:rPr lang="en-GB" altLang="en-US" noProof="0"/>
              <a:t>Fifth level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1814"/>
            <a:ext cx="294618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87" y="9431814"/>
            <a:ext cx="294618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1">
                <a:latin typeface="Times New Roman" panose="02020603050405020304" pitchFamily="18" charset="0"/>
              </a:defRPr>
            </a:lvl1pPr>
          </a:lstStyle>
          <a:p>
            <a:fld id="{E0F95B4D-3865-4517-A26A-F3AA1A4995A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549809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lvl="1"/>
            <a:r>
              <a:rPr lang="en-GB" altLang="en-US"/>
              <a:t>Forum for discussing some important topics which do not fit easily elsewhere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F15455A-8A10-4EA2-9CFD-150AF8AD23F9}" type="slidenum">
              <a:rPr lang="en-GB" altLang="en-US"/>
              <a:pPr>
                <a:spcBef>
                  <a:spcPct val="0"/>
                </a:spcBef>
              </a:pPr>
              <a:t>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88237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Enrolment key: ‘method’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14EF648-8182-4F29-89BC-E93F47C7D336}" type="slidenum">
              <a:rPr lang="en-GB" altLang="en-US"/>
              <a:pPr>
                <a:spcBef>
                  <a:spcPct val="0"/>
                </a:spcBef>
              </a:pPr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41987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3B2C7F3-8ABF-4D3A-B34F-61F7AA75E292}" type="slidenum">
              <a:rPr lang="en-GB" altLang="en-US"/>
              <a:pPr>
                <a:spcBef>
                  <a:spcPct val="0"/>
                </a:spcBef>
              </a:pPr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73314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B9512F2-2990-44C5-BB94-7F946ABD414C}" type="slidenum">
              <a:rPr lang="en-GB" altLang="en-US"/>
              <a:pPr>
                <a:spcBef>
                  <a:spcPct val="0"/>
                </a:spcBef>
              </a:pPr>
              <a:t>4</a:t>
            </a:fld>
            <a:endParaRPr lang="en-GB" alt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51106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B9512F2-2990-44C5-BB94-7F946ABD414C}" type="slidenum">
              <a:rPr lang="en-GB" altLang="en-US"/>
              <a:pPr>
                <a:spcBef>
                  <a:spcPct val="0"/>
                </a:spcBef>
              </a:pPr>
              <a:t>5</a:t>
            </a:fld>
            <a:endParaRPr lang="en-GB" alt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41086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B9512F2-2990-44C5-BB94-7F946ABD414C}" type="slidenum">
              <a:rPr lang="en-GB" altLang="en-US"/>
              <a:pPr>
                <a:spcBef>
                  <a:spcPct val="0"/>
                </a:spcBef>
              </a:pPr>
              <a:t>6</a:t>
            </a:fld>
            <a:endParaRPr lang="en-GB" alt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Handbook includes example titles from previous students dissertations – Esther </a:t>
            </a:r>
            <a:r>
              <a:rPr lang="en-US" altLang="en-US" dirty="0" err="1"/>
              <a:t>Heyhoe</a:t>
            </a:r>
            <a:r>
              <a:rPr lang="en-US" altLang="en-US" dirty="0"/>
              <a:t> also has copies of previous dissertations you can consult.</a:t>
            </a:r>
          </a:p>
          <a:p>
            <a:endParaRPr lang="en-US" altLang="en-US" dirty="0"/>
          </a:p>
          <a:p>
            <a:r>
              <a:rPr lang="en-US" altLang="en-US" dirty="0"/>
              <a:t>Upload project plans via Moodle – an upload link will be made available on the SRM Moodle page nearer the time.</a:t>
            </a:r>
          </a:p>
          <a:p>
            <a:endParaRPr lang="en-US" altLang="en-US" dirty="0"/>
          </a:p>
          <a:p>
            <a:r>
              <a:rPr lang="en-US" altLang="en-US" dirty="0"/>
              <a:t>Supervisors allocated once project plans have been collated.</a:t>
            </a:r>
          </a:p>
          <a:p>
            <a:endParaRPr lang="en-US" altLang="en-US" dirty="0"/>
          </a:p>
          <a:p>
            <a:r>
              <a:rPr lang="en-US" altLang="en-US" dirty="0"/>
              <a:t>Ethics checklist – will look at this in more detail at third dissertation seminar.</a:t>
            </a:r>
          </a:p>
        </p:txBody>
      </p:sp>
    </p:spTree>
    <p:extLst>
      <p:ext uri="{BB962C8B-B14F-4D97-AF65-F5344CB8AC3E}">
        <p14:creationId xmlns:p14="http://schemas.microsoft.com/office/powerpoint/2010/main" val="3010039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4F63271-50BD-4F33-A31D-EC0DDF6669A8}" type="slidenum">
              <a:rPr lang="en-GB" altLang="en-US"/>
              <a:pPr>
                <a:spcBef>
                  <a:spcPct val="0"/>
                </a:spcBef>
              </a:pPr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84979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F355B75-00CD-4E47-B51C-71F94A3FC4FD}" type="slidenum">
              <a:rPr lang="en-GB" altLang="en-US"/>
              <a:pPr>
                <a:spcBef>
                  <a:spcPct val="0"/>
                </a:spcBef>
              </a:pPr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59243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Term-time only</a:t>
            </a:r>
          </a:p>
          <a:p>
            <a:endParaRPr lang="en-US" altLang="en-US" dirty="0"/>
          </a:p>
          <a:p>
            <a:r>
              <a:rPr lang="en-US" altLang="en-US" dirty="0"/>
              <a:t>Students take initiative setting up meetings</a:t>
            </a:r>
          </a:p>
          <a:p>
            <a:endParaRPr lang="en-US" altLang="en-US" dirty="0"/>
          </a:p>
          <a:p>
            <a:r>
              <a:rPr lang="en-US" altLang="en-US" dirty="0"/>
              <a:t>Last date of supervisions is 13</a:t>
            </a:r>
            <a:r>
              <a:rPr lang="en-US" altLang="en-US" baseline="30000" dirty="0"/>
              <a:t>th</a:t>
            </a:r>
            <a:r>
              <a:rPr lang="en-US" altLang="en-US" dirty="0"/>
              <a:t> July 2018 (exact</a:t>
            </a:r>
            <a:r>
              <a:rPr lang="en-US" altLang="en-US" baseline="0" dirty="0"/>
              <a:t> date to be determined by individual </a:t>
            </a:r>
            <a:r>
              <a:rPr lang="en-US" altLang="en-US" baseline="0" dirty="0" err="1"/>
              <a:t>supervisers</a:t>
            </a:r>
            <a:r>
              <a:rPr lang="en-US" altLang="en-US" baseline="0" dirty="0"/>
              <a:t>)</a:t>
            </a:r>
            <a:endParaRPr lang="en-US" altLang="en-US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77FC36B-1CAF-49E8-88F3-34EB8D6E1BF1}" type="slidenum">
              <a:rPr lang="en-GB" altLang="en-US"/>
              <a:pPr>
                <a:spcBef>
                  <a:spcPct val="0"/>
                </a:spcBef>
              </a:pPr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44046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dirty="0"/>
              <a:t>Presentations are </a:t>
            </a:r>
            <a:r>
              <a:rPr lang="en-GB" altLang="en-US" b="1" dirty="0"/>
              <a:t>compulsory</a:t>
            </a:r>
            <a:r>
              <a:rPr lang="en-GB" altLang="en-US" dirty="0"/>
              <a:t>.</a:t>
            </a:r>
          </a:p>
          <a:p>
            <a:endParaRPr lang="en-GB" altLang="en-US" dirty="0"/>
          </a:p>
          <a:p>
            <a:r>
              <a:rPr lang="en-GB" altLang="en-US" dirty="0"/>
              <a:t>Start of ST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10924E9-AC09-45DD-B1FF-46A69218B82C}" type="slidenum">
              <a:rPr lang="en-GB" altLang="en-US"/>
              <a:pPr>
                <a:spcBef>
                  <a:spcPct val="0"/>
                </a:spcBef>
              </a:pPr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00880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lvl="1"/>
            <a:endParaRPr lang="en-US" altLang="en-US" dirty="0"/>
          </a:p>
          <a:p>
            <a:pPr marL="0" lvl="1"/>
            <a:endParaRPr lang="en-US" altLang="en-US" dirty="0"/>
          </a:p>
          <a:p>
            <a:pPr marL="0" lvl="1"/>
            <a:r>
              <a:rPr lang="en-US" altLang="en-US" dirty="0"/>
              <a:t>Timetable </a:t>
            </a:r>
            <a:r>
              <a:rPr lang="en-GB" altLang="en-US" dirty="0">
                <a:solidFill>
                  <a:schemeClr val="tx2"/>
                </a:solidFill>
              </a:rPr>
              <a:t>– how will you meet submission deadline?</a:t>
            </a:r>
          </a:p>
          <a:p>
            <a:pPr marL="0" lvl="1"/>
            <a:endParaRPr lang="en-GB" altLang="en-US" dirty="0">
              <a:solidFill>
                <a:schemeClr val="tx2"/>
              </a:solidFill>
            </a:endParaRPr>
          </a:p>
          <a:p>
            <a:pPr marL="0" lvl="1"/>
            <a:r>
              <a:rPr lang="en-GB" altLang="en-US" dirty="0">
                <a:solidFill>
                  <a:schemeClr val="tx2"/>
                </a:solidFill>
              </a:rPr>
              <a:t>Exams run to 8</a:t>
            </a:r>
            <a:r>
              <a:rPr lang="en-GB" altLang="en-US" baseline="30000" dirty="0">
                <a:solidFill>
                  <a:schemeClr val="tx2"/>
                </a:solidFill>
              </a:rPr>
              <a:t>th</a:t>
            </a:r>
            <a:r>
              <a:rPr lang="en-GB" altLang="en-US" dirty="0">
                <a:solidFill>
                  <a:schemeClr val="tx2"/>
                </a:solidFill>
              </a:rPr>
              <a:t> June 2018.  ST ends 8</a:t>
            </a:r>
            <a:r>
              <a:rPr lang="en-GB" altLang="en-US" baseline="30000" dirty="0">
                <a:solidFill>
                  <a:schemeClr val="tx2"/>
                </a:solidFill>
              </a:rPr>
              <a:t>th</a:t>
            </a:r>
            <a:r>
              <a:rPr lang="en-GB" altLang="en-US" baseline="0" dirty="0">
                <a:solidFill>
                  <a:schemeClr val="tx2"/>
                </a:solidFill>
              </a:rPr>
              <a:t> June 2018.</a:t>
            </a:r>
            <a:endParaRPr lang="en-GB" altLang="en-US" dirty="0">
              <a:solidFill>
                <a:schemeClr val="tx2"/>
              </a:solidFill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1B6C61B-6CFF-4EF3-BC07-3B1EADF5F177}" type="slidenum">
              <a:rPr lang="en-GB" altLang="en-US"/>
              <a:pPr>
                <a:spcBef>
                  <a:spcPct val="0"/>
                </a:spcBef>
              </a:pPr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22567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/>
              <a:t>Liaise with supervisors so clear on their availability up to 14</a:t>
            </a:r>
            <a:r>
              <a:rPr lang="en-GB" altLang="en-US" baseline="30000"/>
              <a:t>th</a:t>
            </a:r>
            <a:r>
              <a:rPr lang="en-GB" altLang="en-US"/>
              <a:t> July 2016.</a:t>
            </a:r>
          </a:p>
          <a:p>
            <a:endParaRPr lang="en-GB" altLang="en-US"/>
          </a:p>
          <a:p>
            <a:r>
              <a:rPr lang="en-GB" altLang="en-US"/>
              <a:t>Formatting instructions available in handbook.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CE95940-88CD-4DDD-96AA-BF470750307B}" type="slidenum">
              <a:rPr lang="en-GB" altLang="en-US"/>
              <a:pPr>
                <a:spcBef>
                  <a:spcPct val="0"/>
                </a:spcBef>
              </a:pPr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40247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6C1F2C3-B942-4352-AF6C-587490D78EA1}" type="slidenum">
              <a:rPr lang="en-GB" altLang="en-US"/>
              <a:pPr>
                <a:spcBef>
                  <a:spcPct val="0"/>
                </a:spcBef>
              </a:pPr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76434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8DD3CF4-8E2D-4C55-8EB1-359E1F52D1F2}" type="slidenum">
              <a:rPr lang="en-GB" altLang="en-US"/>
              <a:pPr>
                <a:spcBef>
                  <a:spcPct val="0"/>
                </a:spcBef>
              </a:pPr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9763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53407DD-4DD7-4D89-BCF7-4142B74B460B}" type="slidenum">
              <a:rPr lang="en-GB" altLang="en-US"/>
              <a:pPr>
                <a:spcBef>
                  <a:spcPct val="0"/>
                </a:spcBef>
              </a:pPr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42114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DC3E9A5-FB2E-4941-801D-B69E06EB6261}" type="slidenum">
              <a:rPr lang="en-GB" altLang="en-US"/>
              <a:pPr>
                <a:spcBef>
                  <a:spcPct val="0"/>
                </a:spcBef>
              </a:pPr>
              <a:t>16</a:t>
            </a:fld>
            <a:endParaRPr lang="en-GB" alt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Relevance.</a:t>
            </a:r>
          </a:p>
          <a:p>
            <a:endParaRPr lang="en-US" altLang="en-US" dirty="0"/>
          </a:p>
          <a:p>
            <a:r>
              <a:rPr lang="en-US" altLang="en-US" dirty="0"/>
              <a:t>List in Handbook – speak to Esther.</a:t>
            </a:r>
          </a:p>
        </p:txBody>
      </p:sp>
    </p:spTree>
    <p:extLst>
      <p:ext uri="{BB962C8B-B14F-4D97-AF65-F5344CB8AC3E}">
        <p14:creationId xmlns:p14="http://schemas.microsoft.com/office/powerpoint/2010/main" val="18970610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DC3E9A5-FB2E-4941-801D-B69E06EB6261}" type="slidenum">
              <a:rPr lang="en-GB" altLang="en-US"/>
              <a:pPr>
                <a:spcBef>
                  <a:spcPct val="0"/>
                </a:spcBef>
              </a:pPr>
              <a:t>17</a:t>
            </a:fld>
            <a:endParaRPr lang="en-GB" alt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11881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6BC2164-08B4-4777-9543-CE68371136D8}" type="slidenum">
              <a:rPr lang="en-GB" altLang="en-US"/>
              <a:pPr>
                <a:spcBef>
                  <a:spcPct val="0"/>
                </a:spcBef>
              </a:pPr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777855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Quickly – better to have something to work on and hone than to agonise over prose of first draft.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20A6529-58B7-4253-BB3D-1BEEC3D1CFF1}" type="slidenum">
              <a:rPr lang="en-GB" altLang="en-US"/>
              <a:pPr>
                <a:spcBef>
                  <a:spcPct val="0"/>
                </a:spcBef>
              </a:pPr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784743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Things to think about…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38B676A-1540-4E98-A230-401F861D3595}" type="slidenum">
              <a:rPr lang="en-GB" altLang="en-US"/>
              <a:pPr>
                <a:spcBef>
                  <a:spcPct val="0"/>
                </a:spcBef>
              </a:pPr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061573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D601CBD-1D95-4B65-87ED-5B89A7920D22}" type="slidenum">
              <a:rPr lang="en-GB" altLang="en-US"/>
              <a:pPr>
                <a:spcBef>
                  <a:spcPct val="0"/>
                </a:spcBef>
              </a:pPr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99471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23765CA-D937-4574-BF21-14DE5D7F5495}" type="slidenum">
              <a:rPr lang="en-GB" altLang="en-US"/>
              <a:pPr>
                <a:spcBef>
                  <a:spcPct val="0"/>
                </a:spcBef>
              </a:pPr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824670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37295C4-B30F-4460-AB42-FABC676FE35C}" type="slidenum">
              <a:rPr lang="en-GB" altLang="en-US"/>
              <a:pPr>
                <a:spcBef>
                  <a:spcPct val="0"/>
                </a:spcBef>
              </a:pPr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811442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37295C4-B30F-4460-AB42-FABC676FE35C}" type="slidenum">
              <a:rPr lang="en-GB" altLang="en-US"/>
              <a:pPr>
                <a:spcBef>
                  <a:spcPct val="0"/>
                </a:spcBef>
              </a:pPr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84966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3922DC8-F4E9-4003-A433-1F168FF05B1F}" type="slidenum">
              <a:rPr lang="en-GB" altLang="en-US"/>
              <a:pPr>
                <a:spcBef>
                  <a:spcPct val="0"/>
                </a:spcBef>
              </a:pPr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464217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F95B4D-3865-4517-A26A-F3AA1A4995A5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62623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F95B4D-3865-4517-A26A-F3AA1A4995A5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462432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lvl="1"/>
            <a:r>
              <a:rPr lang="en-GB" altLang="en-US"/>
              <a:t>Forum for discussing some important topics which do not fit easily elsewhere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064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715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60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048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837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625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414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202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F15455A-8A10-4EA2-9CFD-150AF8AD23F9}" type="slidenum">
              <a:rPr lang="en-GB" altLang="en-US"/>
              <a:pPr>
                <a:spcBef>
                  <a:spcPct val="0"/>
                </a:spcBef>
              </a:pPr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82061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2D4614-B2E0-4B93-83E5-94266E911A6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5357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8468FE-1774-45D7-9E40-D8D20727934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6817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8E927E-6020-4363-893C-EFA0012DDA1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30860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C731B8-5600-4575-B339-5F0EAD01020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04615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D584D7-9172-4D81-A89E-AEBAFC18ED4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7713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E6160D-8A18-4997-A511-49956D3B3C9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0649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F18C79-BA65-4AE3-A725-3A5B69DCD1F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7945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76CFFC-6D6C-490E-8CE5-17CDFAD1D46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4088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5B62C7-A508-410A-93B8-608C82575B5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1860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E4DD4E-F889-4AEF-B5F6-1267C34EF4E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88619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669CAF-BD9C-4E6F-A74C-6BB163F79B0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1794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3A86D8F-7613-4FDF-B765-4A9C78626D34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oup.com/isq/article/61/3/489/4609692" TargetMode="External"/><Relationship Id="rId7" Type="http://schemas.openxmlformats.org/officeDocument/2006/relationships/hyperlink" Target="https://github.com/pablobarbera/echo_chamber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journals.sagepub.com/doi/abs/10.1177/0956797615594620" TargetMode="External"/><Relationship Id="rId5" Type="http://schemas.openxmlformats.org/officeDocument/2006/relationships/hyperlink" Target="https://github.com/soodoku/face_of_crime" TargetMode="External"/><Relationship Id="rId4" Type="http://schemas.openxmlformats.org/officeDocument/2006/relationships/hyperlink" Target="https://github.com/rochelleterman/worlds-wome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.lse.ac.uk/staff/services/Policies-and-procedures/Assets/Documents/resEthPolPro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se.ac.uk/library/collections/collection-highlights/data-and-statistics" TargetMode="External"/><Relationship Id="rId2" Type="http://schemas.openxmlformats.org/officeDocument/2006/relationships/hyperlink" Target="http://www.lse.ac.uk/library/collections/subject-guides/methodology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se.ac.uk/Library/Learning-support/Training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lse.ac.uk/intranet/students/LSE-LIFE/Events/home.aspx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studysites.uk.sagepub.com/repository/binaries/pdf/APA_reference_style.pdf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.lse.ac.uk/Staff/Divisions/Academic-Registrars-Division/Teaching-Quality-Assurance-and-Review-Office/Assets/Documents/Calendar/RegulationsAssessmentOffences-Plagiarism.pdf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se.ac.uk/Methodology/Study/PhD-Social-Research-Methods/PhD-Social-Research-Methods" TargetMode="External"/><Relationship Id="rId2" Type="http://schemas.openxmlformats.org/officeDocument/2006/relationships/hyperlink" Target="http://www.lse.ac.uk/study-at-lse/Graduate/Prospective-students/How-to-Apply/When-to-apply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950" y="1196975"/>
            <a:ext cx="8928100" cy="2232025"/>
          </a:xfrm>
        </p:spPr>
        <p:txBody>
          <a:bodyPr/>
          <a:lstStyle/>
          <a:p>
            <a:pPr eaLnBrk="1" hangingPunct="1"/>
            <a:br>
              <a:rPr lang="en-GB" altLang="en-US" sz="4000" dirty="0"/>
            </a:br>
            <a:r>
              <a:rPr lang="en-GB" altLang="en-US" sz="4000" dirty="0">
                <a:solidFill>
                  <a:schemeClr val="bg2"/>
                </a:solidFill>
              </a:rPr>
              <a:t>MY 498</a:t>
            </a:r>
            <a:br>
              <a:rPr lang="en-GB" altLang="en-US" sz="4000" dirty="0">
                <a:solidFill>
                  <a:schemeClr val="bg2"/>
                </a:solidFill>
              </a:rPr>
            </a:br>
            <a:r>
              <a:rPr lang="en-GB" altLang="en-US" sz="3600" dirty="0">
                <a:solidFill>
                  <a:schemeClr val="bg2"/>
                </a:solidFill>
              </a:rPr>
              <a:t>MSc Applied Social Data Science</a:t>
            </a:r>
            <a:br>
              <a:rPr lang="en-GB" altLang="en-US" sz="4000" dirty="0"/>
            </a:br>
            <a:r>
              <a:rPr lang="en-GB" altLang="en-US" sz="3600" dirty="0"/>
              <a:t>Capstone project seminars: introduction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4149725"/>
            <a:ext cx="6400800" cy="9350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 dirty="0">
                <a:solidFill>
                  <a:schemeClr val="bg2"/>
                </a:solidFill>
              </a:rPr>
              <a:t>21 October 2019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800" dirty="0">
                <a:solidFill>
                  <a:schemeClr val="bg2"/>
                </a:solidFill>
              </a:rPr>
              <a:t>Prof. Kenneth Benoit</a:t>
            </a:r>
          </a:p>
          <a:p>
            <a:pPr eaLnBrk="1" hangingPunct="1">
              <a:lnSpc>
                <a:spcPct val="80000"/>
              </a:lnSpc>
            </a:pPr>
            <a:endParaRPr lang="en-GB" altLang="en-US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 </a:t>
            </a:r>
          </a:p>
        </p:txBody>
      </p:sp>
      <p:pic>
        <p:nvPicPr>
          <p:cNvPr id="205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87738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107504" y="188913"/>
            <a:ext cx="8856984" cy="936625"/>
          </a:xfrm>
        </p:spPr>
        <p:txBody>
          <a:bodyPr/>
          <a:lstStyle/>
          <a:p>
            <a:r>
              <a:rPr lang="en-GB" altLang="en-US" dirty="0"/>
              <a:t>Further seminars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1268413"/>
            <a:ext cx="8642350" cy="4929187"/>
          </a:xfrm>
        </p:spPr>
        <p:txBody>
          <a:bodyPr/>
          <a:lstStyle/>
          <a:p>
            <a:pPr>
              <a:defRPr/>
            </a:pPr>
            <a:endParaRPr lang="en-GB" altLang="en-US" sz="2000" dirty="0"/>
          </a:p>
          <a:p>
            <a:pPr>
              <a:defRPr/>
            </a:pPr>
            <a:endParaRPr lang="en-GB" altLang="en-US" sz="2000" dirty="0"/>
          </a:p>
          <a:p>
            <a:pPr marL="0" indent="0">
              <a:buNone/>
              <a:defRPr/>
            </a:pPr>
            <a:r>
              <a:rPr lang="en-GB" altLang="en-US" sz="2000" b="1" dirty="0"/>
              <a:t>Session 2 </a:t>
            </a:r>
            <a:r>
              <a:rPr lang="en-GB" altLang="en-US" sz="2000" dirty="0"/>
              <a:t>- </a:t>
            </a:r>
            <a:r>
              <a:rPr lang="en-GB" altLang="en-US" sz="2000" i="1" dirty="0"/>
              <a:t>Secondary Analysis of Quantitative Data </a:t>
            </a:r>
            <a:r>
              <a:rPr lang="en-GB" altLang="en-US" sz="2000" dirty="0"/>
              <a:t>(Tuesday November 11, 09:30-11:30)</a:t>
            </a:r>
          </a:p>
          <a:p>
            <a:pPr marL="0" indent="0">
              <a:buNone/>
              <a:defRPr/>
            </a:pPr>
            <a:endParaRPr lang="en-GB" altLang="en-US" sz="2000" dirty="0"/>
          </a:p>
          <a:p>
            <a:pPr marL="0" indent="0">
              <a:buNone/>
              <a:defRPr/>
            </a:pPr>
            <a:endParaRPr lang="en-GB" altLang="en-US" sz="2000" dirty="0"/>
          </a:p>
          <a:p>
            <a:pPr marL="0" indent="0">
              <a:buNone/>
              <a:defRPr/>
            </a:pPr>
            <a:r>
              <a:rPr lang="en-GB" altLang="en-US" sz="2000" b="1" dirty="0"/>
              <a:t>Session 3</a:t>
            </a:r>
            <a:r>
              <a:rPr lang="en-GB" altLang="en-US" sz="2000" dirty="0"/>
              <a:t> - </a:t>
            </a:r>
            <a:r>
              <a:rPr lang="en-GB" altLang="en-US" sz="2000" i="1" dirty="0"/>
              <a:t>Reviewing the Literature and Research Ethics </a:t>
            </a:r>
            <a:r>
              <a:rPr lang="en-GB" altLang="en-US" sz="2000" dirty="0"/>
              <a:t>(Monday November 25, 09:30-11:30)</a:t>
            </a:r>
          </a:p>
          <a:p>
            <a:pPr>
              <a:defRPr/>
            </a:pPr>
            <a:endParaRPr lang="en-GB" altLang="en-US" sz="2000" dirty="0"/>
          </a:p>
          <a:p>
            <a:pPr>
              <a:defRPr/>
            </a:pPr>
            <a:endParaRPr lang="en-GB" altLang="en-US" sz="2000" dirty="0"/>
          </a:p>
          <a:p>
            <a:pPr marL="0" indent="0">
              <a:buNone/>
              <a:defRPr/>
            </a:pPr>
            <a:endParaRPr lang="en-GB" altLang="en-US" sz="2000" dirty="0"/>
          </a:p>
          <a:p>
            <a:pPr algn="ctr">
              <a:buFontTx/>
              <a:buNone/>
              <a:defRPr/>
            </a:pPr>
            <a:r>
              <a:rPr lang="en-GB" altLang="en-US" sz="2000" dirty="0"/>
              <a:t>Check ‘MY498 – Capstone Project’ on Moodle for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600" b="1" dirty="0"/>
              <a:t>Capstone project</a:t>
            </a:r>
            <a:r>
              <a:rPr lang="en-GB" altLang="en-US" sz="3600" dirty="0"/>
              <a:t>: A paradigm shift?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solidFill>
                  <a:schemeClr val="tx2"/>
                </a:solidFill>
              </a:rPr>
              <a:t>Unlike in taught courses, in the capstone project you have to specify the question (with help from supervisor) and provide the answer yourself.</a:t>
            </a:r>
          </a:p>
          <a:p>
            <a:pPr eaLnBrk="1" hangingPunct="1"/>
            <a:r>
              <a:rPr lang="en-GB" altLang="en-US" dirty="0">
                <a:solidFill>
                  <a:schemeClr val="tx2"/>
                </a:solidFill>
              </a:rPr>
              <a:t>Key part of your development as a data scientist</a:t>
            </a:r>
          </a:p>
          <a:p>
            <a:pPr eaLnBrk="1" hangingPunct="1"/>
            <a:r>
              <a:rPr lang="en-GB" altLang="en-US" dirty="0">
                <a:solidFill>
                  <a:schemeClr val="tx2"/>
                </a:solidFill>
              </a:rPr>
              <a:t>Important for CV/portfolio and careers</a:t>
            </a:r>
          </a:p>
          <a:p>
            <a:pPr eaLnBrk="1" hangingPunct="1"/>
            <a:endParaRPr lang="en-GB" altLang="en-US" dirty="0">
              <a:solidFill>
                <a:schemeClr val="tx2"/>
              </a:solidFill>
            </a:endParaRPr>
          </a:p>
          <a:p>
            <a:pPr eaLnBrk="1" hangingPunct="1"/>
            <a:endParaRPr lang="en-GB" altLang="en-US" sz="3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5888"/>
            <a:ext cx="7772400" cy="720725"/>
          </a:xfrm>
        </p:spPr>
        <p:txBody>
          <a:bodyPr/>
          <a:lstStyle/>
          <a:p>
            <a:pPr eaLnBrk="1" hangingPunct="1"/>
            <a:r>
              <a:rPr lang="en-GB" altLang="en-US" dirty="0"/>
              <a:t>Practical considerations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908050"/>
            <a:ext cx="8928100" cy="58340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chemeClr val="tx2"/>
                </a:solidFill>
              </a:rPr>
              <a:t>10,000 word limit (</a:t>
            </a:r>
            <a:r>
              <a:rPr lang="en-GB" altLang="en-US" sz="2800" b="1" dirty="0">
                <a:solidFill>
                  <a:schemeClr val="tx2"/>
                </a:solidFill>
              </a:rPr>
              <a:t>excl.</a:t>
            </a:r>
            <a:r>
              <a:rPr lang="en-GB" altLang="en-US" sz="2800" dirty="0">
                <a:solidFill>
                  <a:schemeClr val="tx2"/>
                </a:solidFill>
              </a:rPr>
              <a:t> tables, figures, bibliography and appendix) – see p.10 of handbook for detailed guidance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chemeClr val="tx2"/>
                </a:solidFill>
              </a:rPr>
              <a:t>Research project of quality similar to publishable academic research article or report written by data scientist.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chemeClr val="tx2"/>
                </a:solidFill>
              </a:rPr>
              <a:t>Key: needs to answer a </a:t>
            </a:r>
            <a:r>
              <a:rPr lang="en-GB" altLang="en-US" sz="2800" u="sng" dirty="0">
                <a:solidFill>
                  <a:schemeClr val="tx2"/>
                </a:solidFill>
              </a:rPr>
              <a:t>substantive research question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chemeClr val="tx2"/>
                </a:solidFill>
              </a:rPr>
              <a:t>Can rely on primary or secondary data sources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chemeClr val="tx2"/>
                </a:solidFill>
              </a:rPr>
              <a:t>Strongly recommended to use GitHub to release code/data, documentation, visualization of key results… (useful for your portfolio)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GB" altLang="en-US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GB" altLang="en-US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GB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5888"/>
            <a:ext cx="7772400" cy="720725"/>
          </a:xfrm>
        </p:spPr>
        <p:txBody>
          <a:bodyPr/>
          <a:lstStyle/>
          <a:p>
            <a:pPr eaLnBrk="1" hangingPunct="1"/>
            <a:r>
              <a:rPr lang="en-GB" altLang="en-US" dirty="0"/>
              <a:t>Examples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908050"/>
            <a:ext cx="8928100" cy="58340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endParaRPr lang="en-GB" altLang="en-US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chemeClr val="tx2"/>
                </a:solidFill>
              </a:rPr>
              <a:t>MSc dissertations by Michael Reiss, Sebastian Mueller, (and more to come). Available on Moodle</a:t>
            </a:r>
          </a:p>
          <a:p>
            <a:pPr eaLnBrk="1" hangingPunct="1">
              <a:lnSpc>
                <a:spcPct val="90000"/>
              </a:lnSpc>
              <a:defRPr/>
            </a:pPr>
            <a:endParaRPr lang="en-GB" altLang="en-US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chemeClr val="tx2"/>
                </a:solidFill>
              </a:rPr>
              <a:t>Published papers that could serve as inspiration: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400" dirty="0" err="1">
                <a:solidFill>
                  <a:schemeClr val="tx2"/>
                </a:solidFill>
              </a:rPr>
              <a:t>Terman</a:t>
            </a:r>
            <a:r>
              <a:rPr lang="en-GB" altLang="en-US" sz="2400" dirty="0">
                <a:solidFill>
                  <a:schemeClr val="tx2"/>
                </a:solidFill>
              </a:rPr>
              <a:t>, Rochelle (2017) “Islamophobia and Media Portrayals of Muslim Women: A Computational Text Analysis of US News Coverage”. </a:t>
            </a:r>
            <a:r>
              <a:rPr lang="en-GB" altLang="en-US" sz="2400" i="1" dirty="0">
                <a:solidFill>
                  <a:schemeClr val="tx2"/>
                </a:solidFill>
              </a:rPr>
              <a:t>International Studies Quarterly</a:t>
            </a:r>
            <a:r>
              <a:rPr lang="en-GB" altLang="en-US" sz="2400" dirty="0">
                <a:solidFill>
                  <a:schemeClr val="tx2"/>
                </a:solidFill>
              </a:rPr>
              <a:t>. [</a:t>
            </a:r>
            <a:r>
              <a:rPr lang="en-GB" altLang="en-US" sz="2400" dirty="0">
                <a:solidFill>
                  <a:schemeClr val="tx2"/>
                </a:solidFill>
                <a:hlinkClick r:id="rId3"/>
              </a:rPr>
              <a:t>Link to paper</a:t>
            </a:r>
            <a:r>
              <a:rPr lang="en-GB" altLang="en-US" sz="2400" dirty="0">
                <a:solidFill>
                  <a:schemeClr val="tx2"/>
                </a:solidFill>
              </a:rPr>
              <a:t>] [</a:t>
            </a:r>
            <a:r>
              <a:rPr lang="en-GB" altLang="en-US" sz="2400" dirty="0">
                <a:solidFill>
                  <a:schemeClr val="tx2"/>
                </a:solidFill>
                <a:hlinkClick r:id="rId4"/>
              </a:rPr>
              <a:t>Link to code</a:t>
            </a:r>
            <a:r>
              <a:rPr lang="en-GB" altLang="en-US" sz="2400" dirty="0">
                <a:solidFill>
                  <a:schemeClr val="tx2"/>
                </a:solidFill>
              </a:rPr>
              <a:t>]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400" dirty="0" err="1">
                <a:solidFill>
                  <a:schemeClr val="tx2"/>
                </a:solidFill>
              </a:rPr>
              <a:t>Sood</a:t>
            </a:r>
            <a:r>
              <a:rPr lang="en-GB" altLang="en-US" sz="2400" dirty="0">
                <a:solidFill>
                  <a:schemeClr val="tx2"/>
                </a:solidFill>
              </a:rPr>
              <a:t>, Gaurav (2016) “The Face of Crime During Prime Time”. [</a:t>
            </a:r>
            <a:r>
              <a:rPr lang="en-GB" altLang="en-US" sz="2400" dirty="0">
                <a:solidFill>
                  <a:schemeClr val="tx2"/>
                </a:solidFill>
                <a:hlinkClick r:id="rId5"/>
              </a:rPr>
              <a:t>Link to paper/code</a:t>
            </a:r>
            <a:r>
              <a:rPr lang="en-GB" altLang="en-US" sz="2400" dirty="0">
                <a:solidFill>
                  <a:schemeClr val="tx2"/>
                </a:solidFill>
              </a:rPr>
              <a:t>]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400" dirty="0" err="1">
                <a:solidFill>
                  <a:schemeClr val="tx2"/>
                </a:solidFill>
              </a:rPr>
              <a:t>Barberá</a:t>
            </a:r>
            <a:r>
              <a:rPr lang="en-GB" altLang="en-US" sz="2400" dirty="0">
                <a:solidFill>
                  <a:schemeClr val="tx2"/>
                </a:solidFill>
              </a:rPr>
              <a:t>, Pablo et al (2015) “Tweeting from Left to Right” </a:t>
            </a:r>
            <a:r>
              <a:rPr lang="en-GB" altLang="en-US" sz="2400" i="1" dirty="0">
                <a:solidFill>
                  <a:schemeClr val="tx2"/>
                </a:solidFill>
              </a:rPr>
              <a:t>Psychological Science</a:t>
            </a:r>
            <a:r>
              <a:rPr lang="en-GB" altLang="en-US" sz="2400" dirty="0">
                <a:solidFill>
                  <a:schemeClr val="tx2"/>
                </a:solidFill>
              </a:rPr>
              <a:t> [</a:t>
            </a:r>
            <a:r>
              <a:rPr lang="en-GB" altLang="en-US" sz="2400" dirty="0">
                <a:solidFill>
                  <a:schemeClr val="tx2"/>
                </a:solidFill>
                <a:hlinkClick r:id="rId6"/>
              </a:rPr>
              <a:t>Link to paper</a:t>
            </a:r>
            <a:r>
              <a:rPr lang="en-GB" altLang="en-US" sz="2400" dirty="0">
                <a:solidFill>
                  <a:schemeClr val="tx2"/>
                </a:solidFill>
              </a:rPr>
              <a:t>] [</a:t>
            </a:r>
            <a:r>
              <a:rPr lang="en-GB" altLang="en-US" sz="2400" dirty="0">
                <a:solidFill>
                  <a:schemeClr val="tx2"/>
                </a:solidFill>
                <a:hlinkClick r:id="rId7"/>
              </a:rPr>
              <a:t>Link to code</a:t>
            </a:r>
            <a:r>
              <a:rPr lang="en-GB" altLang="en-US" sz="2400" dirty="0">
                <a:solidFill>
                  <a:schemeClr val="tx2"/>
                </a:solidFill>
              </a:rPr>
              <a:t>]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GB" altLang="en-US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GB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742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5888"/>
            <a:ext cx="7772400" cy="720725"/>
          </a:xfrm>
        </p:spPr>
        <p:txBody>
          <a:bodyPr/>
          <a:lstStyle/>
          <a:p>
            <a:pPr eaLnBrk="1" hangingPunct="1"/>
            <a:r>
              <a:rPr lang="en-GB" altLang="en-US"/>
              <a:t>Practical  considerations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908050"/>
            <a:ext cx="8928100" cy="58340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b="1" dirty="0">
                <a:solidFill>
                  <a:schemeClr val="tx2"/>
                </a:solidFill>
              </a:rPr>
              <a:t>Key dates</a:t>
            </a:r>
            <a:r>
              <a:rPr lang="en-GB" altLang="en-US" sz="2800" dirty="0">
                <a:solidFill>
                  <a:schemeClr val="tx2"/>
                </a:solidFill>
              </a:rPr>
              <a:t>:</a:t>
            </a:r>
          </a:p>
          <a:p>
            <a:pPr marL="457200" lvl="1" indent="-101600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sz="2400" b="1" dirty="0">
                <a:solidFill>
                  <a:schemeClr val="tx2"/>
                </a:solidFill>
              </a:rPr>
              <a:t>1</a:t>
            </a:r>
            <a:r>
              <a:rPr lang="en-GB" altLang="en-US" sz="2400" b="1" baseline="30000" dirty="0">
                <a:solidFill>
                  <a:schemeClr val="tx2"/>
                </a:solidFill>
              </a:rPr>
              <a:t>st</a:t>
            </a:r>
            <a:r>
              <a:rPr lang="en-GB" altLang="en-US" sz="2400" b="1" dirty="0">
                <a:solidFill>
                  <a:schemeClr val="tx2"/>
                </a:solidFill>
              </a:rPr>
              <a:t> Project Plan</a:t>
            </a:r>
            <a:r>
              <a:rPr lang="en-GB" altLang="en-US" sz="2400" dirty="0">
                <a:solidFill>
                  <a:schemeClr val="tx2"/>
                </a:solidFill>
              </a:rPr>
              <a:t>: Friday 17</a:t>
            </a:r>
            <a:r>
              <a:rPr lang="en-GB" altLang="en-US" sz="2400" baseline="30000" dirty="0">
                <a:solidFill>
                  <a:schemeClr val="tx2"/>
                </a:solidFill>
              </a:rPr>
              <a:t>th</a:t>
            </a:r>
            <a:r>
              <a:rPr lang="en-GB" altLang="en-US" sz="2400" dirty="0">
                <a:solidFill>
                  <a:schemeClr val="tx2"/>
                </a:solidFill>
              </a:rPr>
              <a:t> January 2020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400" dirty="0">
                <a:solidFill>
                  <a:schemeClr val="tx2"/>
                </a:solidFill>
              </a:rPr>
              <a:t>Summarises proposed study: rationale and objectives; likely methodology; proposed schedule for completing literature review, data collection, computational methods, analysis, write-up, deliverables…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400" dirty="0">
                <a:solidFill>
                  <a:schemeClr val="tx2"/>
                </a:solidFill>
              </a:rPr>
              <a:t>Indicate preferred supervisor(s)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400" dirty="0">
                <a:solidFill>
                  <a:schemeClr val="tx2"/>
                </a:solidFill>
              </a:rPr>
              <a:t>Complete and attach ‘Research Ethics Review’ Parts I and II (and longer Part III questionnaire if required) to your project plan.  This review form is Annex B of the LSE </a:t>
            </a:r>
            <a:r>
              <a:rPr lang="en-GB" altLang="en-US" sz="2400" dirty="0">
                <a:solidFill>
                  <a:schemeClr val="tx2"/>
                </a:solidFill>
                <a:hlinkClick r:id="rId3"/>
              </a:rPr>
              <a:t>Research Ethics Policy and Procedures</a:t>
            </a:r>
            <a:r>
              <a:rPr lang="en-GB" altLang="en-US" sz="2400" dirty="0">
                <a:solidFill>
                  <a:schemeClr val="tx2"/>
                </a:solidFill>
              </a:rPr>
              <a:t> document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400" dirty="0">
                <a:solidFill>
                  <a:schemeClr val="tx2"/>
                </a:solidFill>
              </a:rPr>
              <a:t>Upload via Moodle ‘MY 498 – Capstone Project’ page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GB" altLang="en-US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GB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506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68313" y="22225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sz="3600"/>
              <a:t>1</a:t>
            </a:r>
            <a:r>
              <a:rPr lang="en-GB" altLang="en-US" sz="3600" baseline="30000"/>
              <a:t>st</a:t>
            </a:r>
            <a:r>
              <a:rPr lang="en-GB" altLang="en-US" sz="3600"/>
              <a:t> Project Plan: a provisional statement of intent (1-2 pages)</a:t>
            </a:r>
          </a:p>
        </p:txBody>
      </p:sp>
      <p:sp>
        <p:nvSpPr>
          <p:cNvPr id="61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732462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GB" altLang="en-US" sz="1700" dirty="0">
                <a:solidFill>
                  <a:schemeClr val="tx2"/>
                </a:solidFill>
              </a:rPr>
              <a:t>Working title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GB" altLang="en-US" sz="1700" dirty="0">
                <a:solidFill>
                  <a:schemeClr val="tx2"/>
                </a:solidFill>
              </a:rPr>
              <a:t>Key words – 2 on concepts, 2 on methods, 1 on field</a:t>
            </a:r>
          </a:p>
          <a:p>
            <a:pPr eaLnBrk="1" hangingPunct="1">
              <a:lnSpc>
                <a:spcPct val="150000"/>
              </a:lnSpc>
            </a:pPr>
            <a:r>
              <a:rPr lang="en-GB" altLang="en-US" sz="1700" dirty="0">
                <a:solidFill>
                  <a:schemeClr val="tx2"/>
                </a:solidFill>
              </a:rPr>
              <a:t>Abstract: what is the relevant literature? What is your ‘angle’ or ‘perspective’ and how does this ‘add value’? (100 words)</a:t>
            </a:r>
          </a:p>
          <a:p>
            <a:pPr eaLnBrk="1" hangingPunct="1">
              <a:lnSpc>
                <a:spcPct val="150000"/>
              </a:lnSpc>
            </a:pPr>
            <a:r>
              <a:rPr lang="en-GB" altLang="en-US" sz="1700" dirty="0">
                <a:solidFill>
                  <a:schemeClr val="tx2"/>
                </a:solidFill>
              </a:rPr>
              <a:t>Research question(s) and/or research aims</a:t>
            </a:r>
          </a:p>
          <a:p>
            <a:pPr eaLnBrk="1" hangingPunct="1">
              <a:lnSpc>
                <a:spcPct val="150000"/>
              </a:lnSpc>
            </a:pPr>
            <a:r>
              <a:rPr lang="en-GB" altLang="en-US" sz="1700" dirty="0">
                <a:solidFill>
                  <a:schemeClr val="tx2"/>
                </a:solidFill>
              </a:rPr>
              <a:t>Methodology: what is the research design? What data analytic methods will you use? </a:t>
            </a:r>
          </a:p>
          <a:p>
            <a:pPr eaLnBrk="1" hangingPunct="1">
              <a:lnSpc>
                <a:spcPct val="150000"/>
              </a:lnSpc>
            </a:pPr>
            <a:r>
              <a:rPr lang="en-GB" altLang="en-US" sz="1700" dirty="0">
                <a:solidFill>
                  <a:schemeClr val="tx2"/>
                </a:solidFill>
              </a:rPr>
              <a:t>Data sources</a:t>
            </a:r>
          </a:p>
          <a:p>
            <a:pPr eaLnBrk="1" hangingPunct="1">
              <a:lnSpc>
                <a:spcPct val="150000"/>
              </a:lnSpc>
            </a:pPr>
            <a:r>
              <a:rPr lang="en-GB" altLang="en-US" sz="1700" dirty="0">
                <a:solidFill>
                  <a:schemeClr val="tx2"/>
                </a:solidFill>
              </a:rPr>
              <a:t>Contingency plan</a:t>
            </a:r>
          </a:p>
          <a:p>
            <a:pPr eaLnBrk="1" hangingPunct="1">
              <a:lnSpc>
                <a:spcPct val="150000"/>
              </a:lnSpc>
            </a:pPr>
            <a:r>
              <a:rPr lang="en-GB" altLang="en-US" sz="1700" dirty="0">
                <a:solidFill>
                  <a:schemeClr val="tx2"/>
                </a:solidFill>
              </a:rPr>
              <a:t>Time schedule for completing project milestones</a:t>
            </a:r>
          </a:p>
          <a:p>
            <a:pPr eaLnBrk="1" hangingPunct="1">
              <a:lnSpc>
                <a:spcPct val="150000"/>
              </a:lnSpc>
            </a:pPr>
            <a:r>
              <a:rPr lang="en-GB" altLang="en-US" sz="1700" dirty="0">
                <a:solidFill>
                  <a:schemeClr val="tx2"/>
                </a:solidFill>
              </a:rPr>
              <a:t>Preferred supervisor – list 3 Methodology staff, ranked, and list who else the project has been discussed with to date</a:t>
            </a:r>
          </a:p>
          <a:p>
            <a:pPr eaLnBrk="1" hangingPunct="1">
              <a:lnSpc>
                <a:spcPct val="150000"/>
              </a:lnSpc>
            </a:pPr>
            <a:r>
              <a:rPr lang="en-GB" altLang="en-US" sz="1700" dirty="0">
                <a:solidFill>
                  <a:schemeClr val="tx2"/>
                </a:solidFill>
              </a:rPr>
              <a:t>Attach completed LSE Research Ethics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6632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Supervision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557338"/>
            <a:ext cx="7772400" cy="5300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Capstone supervisor is a member of Methodology staff, and will be assigned late Jan/early Feb 2020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Could be your academic adviser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I will try to fit your interests to an appropriate member of staff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You can get advice from any member of MY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GB" altLang="en-US" sz="2400" dirty="0">
                <a:solidFill>
                  <a:schemeClr val="tx2"/>
                </a:solidFill>
              </a:rPr>
              <a:t>and from other academics in the School via Office Hours (anything more than this dependent on their good will)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800" dirty="0">
                <a:solidFill>
                  <a:schemeClr val="tx2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6632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Supervision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4745"/>
            <a:ext cx="7772400" cy="547260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chemeClr val="tx2"/>
                </a:solidFill>
              </a:rPr>
              <a:t>Frequency of supervision depends on phase of the work, more intense at certain times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chemeClr val="tx2"/>
                </a:solidFill>
              </a:rPr>
              <a:t>Expect to see supervisor up to 3 times per term (LT and ST)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chemeClr val="tx2"/>
                </a:solidFill>
              </a:rPr>
              <a:t>Unlike some other departments, MY supervisors are also typically available at the start of ST (up to 10</a:t>
            </a:r>
            <a:r>
              <a:rPr lang="en-GB" altLang="en-US" sz="2800" baseline="30000" dirty="0">
                <a:solidFill>
                  <a:schemeClr val="tx2"/>
                </a:solidFill>
              </a:rPr>
              <a:t>th</a:t>
            </a:r>
            <a:r>
              <a:rPr lang="en-GB" altLang="en-US" sz="2800" dirty="0">
                <a:solidFill>
                  <a:schemeClr val="tx2"/>
                </a:solidFill>
              </a:rPr>
              <a:t> July 2020 at the latest [ST ends on 19th June])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chemeClr val="tx2"/>
                </a:solidFill>
              </a:rPr>
              <a:t>Supervisor can review sections of your project </a:t>
            </a:r>
            <a:r>
              <a:rPr lang="en-GB" altLang="en-US" sz="2800" b="1" dirty="0">
                <a:solidFill>
                  <a:schemeClr val="tx2"/>
                </a:solidFill>
              </a:rPr>
              <a:t>with good notice </a:t>
            </a:r>
            <a:r>
              <a:rPr lang="en-GB" altLang="en-US" sz="2800" dirty="0">
                <a:solidFill>
                  <a:schemeClr val="tx2"/>
                </a:solidFill>
              </a:rPr>
              <a:t>(at least 2-3 days)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chemeClr val="tx2"/>
                </a:solidFill>
              </a:rPr>
              <a:t>Good practice to have some data analysis for supervisor to review before supervision ends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lang="en-GB" altLang="en-US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sz="2800" dirty="0">
                <a:solidFill>
                  <a:schemeClr val="tx2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GB" altLang="en-US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68313" y="33338"/>
            <a:ext cx="8229600" cy="993775"/>
          </a:xfrm>
        </p:spPr>
        <p:txBody>
          <a:bodyPr/>
          <a:lstStyle/>
          <a:p>
            <a:r>
              <a:rPr lang="en-GB" altLang="en-US"/>
              <a:t>Key 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981075"/>
            <a:ext cx="8496300" cy="5543550"/>
          </a:xfrm>
        </p:spPr>
        <p:txBody>
          <a:bodyPr/>
          <a:lstStyle/>
          <a:p>
            <a:pPr marL="0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sz="2700" b="1" dirty="0">
                <a:solidFill>
                  <a:schemeClr val="tx2"/>
                </a:solidFill>
              </a:rPr>
              <a:t>Easter vacation</a:t>
            </a:r>
          </a:p>
          <a:p>
            <a:pPr marL="457200" lvl="1" indent="-457200"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chemeClr val="tx2"/>
                </a:solidFill>
              </a:rPr>
              <a:t>Complete </a:t>
            </a:r>
            <a:r>
              <a:rPr lang="en-GB" altLang="en-US" sz="2700" i="1" dirty="0">
                <a:solidFill>
                  <a:schemeClr val="tx2"/>
                </a:solidFill>
              </a:rPr>
              <a:t>first draft</a:t>
            </a:r>
            <a:r>
              <a:rPr lang="en-GB" altLang="en-US" sz="2700" dirty="0">
                <a:solidFill>
                  <a:schemeClr val="tx2"/>
                </a:solidFill>
              </a:rPr>
              <a:t> of literature review, project design, identify data sources</a:t>
            </a:r>
          </a:p>
          <a:p>
            <a:pPr marL="457200" lvl="1" indent="-457200"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chemeClr val="tx2"/>
                </a:solidFill>
              </a:rPr>
              <a:t>Prepare for project presentation seminar</a:t>
            </a:r>
          </a:p>
          <a:p>
            <a:pPr marL="0" lvl="1" indent="0" eaLnBrk="1" hangingPunct="1">
              <a:lnSpc>
                <a:spcPct val="90000"/>
              </a:lnSpc>
              <a:buFontTx/>
              <a:buNone/>
              <a:defRPr/>
            </a:pPr>
            <a:endParaRPr lang="en-GB" altLang="en-US" sz="2700" b="1" dirty="0">
              <a:solidFill>
                <a:schemeClr val="tx2"/>
              </a:solidFill>
            </a:endParaRPr>
          </a:p>
          <a:p>
            <a:pPr marL="0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sz="2700" b="1" dirty="0">
                <a:solidFill>
                  <a:schemeClr val="tx2"/>
                </a:solidFill>
              </a:rPr>
              <a:t>Project presentation seminar</a:t>
            </a:r>
            <a:r>
              <a:rPr lang="en-GB" altLang="en-US" sz="2700" dirty="0">
                <a:solidFill>
                  <a:schemeClr val="tx2"/>
                </a:solidFill>
              </a:rPr>
              <a:t>: early May 2020 (Col 8.13, over two days - dates TBC)</a:t>
            </a:r>
          </a:p>
          <a:p>
            <a:pPr marL="542925" lvl="1" indent="-357188"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chemeClr val="tx2"/>
                </a:solidFill>
              </a:rPr>
              <a:t>Short (5-10 minute; 3 slides max.) presentation to staff and fellow students;</a:t>
            </a:r>
          </a:p>
          <a:p>
            <a:pPr marL="542925" lvl="1" indent="-357188"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chemeClr val="tx2"/>
                </a:solidFill>
              </a:rPr>
              <a:t>Cover: research questions; constituent concepts; proposed design and methodology; data sources.</a:t>
            </a:r>
          </a:p>
          <a:p>
            <a:pPr marL="542925" lvl="1" indent="-357188"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chemeClr val="tx2"/>
                </a:solidFill>
              </a:rPr>
              <a:t>Opportunity to receive comments and feedback</a:t>
            </a:r>
          </a:p>
          <a:p>
            <a:pPr marL="542925" lvl="1" indent="-357188" eaLnBrk="1" hangingPunct="1">
              <a:lnSpc>
                <a:spcPct val="90000"/>
              </a:lnSpc>
              <a:defRPr/>
            </a:pPr>
            <a:r>
              <a:rPr lang="en-GB" altLang="en-US" sz="2700" dirty="0"/>
              <a:t>Presentations are </a:t>
            </a:r>
            <a:r>
              <a:rPr lang="en-GB" altLang="en-US" sz="2700" b="1" dirty="0"/>
              <a:t>compulsory</a:t>
            </a:r>
            <a:r>
              <a:rPr lang="en-GB" altLang="en-US" sz="27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r>
              <a:rPr lang="en-GB" altLang="en-US" dirty="0"/>
              <a:t>On back of presentation…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513"/>
            <a:ext cx="8712968" cy="5689600"/>
          </a:xfrm>
        </p:spPr>
        <p:txBody>
          <a:bodyPr/>
          <a:lstStyle/>
          <a:p>
            <a:pPr marL="642937" lvl="1" indent="-457200"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chemeClr val="tx2"/>
                </a:solidFill>
              </a:rPr>
              <a:t>Reflect on presentation feedback and how you plan to accommodate this</a:t>
            </a:r>
          </a:p>
          <a:p>
            <a:pPr marL="642937" lvl="1" indent="-457200"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chemeClr val="tx2"/>
                </a:solidFill>
              </a:rPr>
              <a:t>Revise and finalise project plan to reflect discussion and changes to project: substance, scope and schedule</a:t>
            </a:r>
          </a:p>
          <a:p>
            <a:pPr marL="642937" lvl="1" indent="-457200"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chemeClr val="tx2"/>
                </a:solidFill>
              </a:rPr>
              <a:t>Revise and flesh-out proposed timetable for research</a:t>
            </a:r>
          </a:p>
          <a:p>
            <a:pPr marL="642937" lvl="1" indent="-457200"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chemeClr val="tx2"/>
                </a:solidFill>
              </a:rPr>
              <a:t>Schedule a progress and strategic planning meeting with supervisor (early June 2020)</a:t>
            </a:r>
          </a:p>
          <a:p>
            <a:pPr marL="1042987" lvl="2" indent="-457200"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chemeClr val="tx2"/>
                </a:solidFill>
              </a:rPr>
              <a:t>Use updated plan and timetable as basis for discussion with supervisor</a:t>
            </a:r>
          </a:p>
          <a:p>
            <a:pPr marL="1042987" lvl="2" indent="-457200"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chemeClr val="tx2"/>
                </a:solidFill>
              </a:rPr>
              <a:t>Discuss progress on design and project structure, but also data collection and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Key 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/>
          <a:lstStyle/>
          <a:p>
            <a:pPr marL="185737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b="1" dirty="0">
                <a:solidFill>
                  <a:schemeClr val="tx2"/>
                </a:solidFill>
              </a:rPr>
              <a:t>End of supervision</a:t>
            </a:r>
            <a:r>
              <a:rPr lang="en-GB" altLang="en-US" dirty="0">
                <a:solidFill>
                  <a:schemeClr val="tx2"/>
                </a:solidFill>
              </a:rPr>
              <a:t>: 10</a:t>
            </a:r>
            <a:r>
              <a:rPr lang="en-GB" altLang="en-US" baseline="30000" dirty="0">
                <a:solidFill>
                  <a:schemeClr val="tx2"/>
                </a:solidFill>
              </a:rPr>
              <a:t>th</a:t>
            </a:r>
            <a:r>
              <a:rPr lang="en-GB" altLang="en-US" dirty="0">
                <a:solidFill>
                  <a:schemeClr val="tx2"/>
                </a:solidFill>
              </a:rPr>
              <a:t> July 2020, at the latest</a:t>
            </a:r>
          </a:p>
          <a:p>
            <a:pPr marL="185737" lvl="1" indent="0" eaLnBrk="1" hangingPunct="1">
              <a:lnSpc>
                <a:spcPct val="90000"/>
              </a:lnSpc>
              <a:buNone/>
              <a:defRPr/>
            </a:pPr>
            <a:endParaRPr lang="en-GB" altLang="en-US" dirty="0">
              <a:solidFill>
                <a:schemeClr val="tx2"/>
              </a:solidFill>
            </a:endParaRPr>
          </a:p>
          <a:p>
            <a:pPr marL="185737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b="1" dirty="0">
                <a:solidFill>
                  <a:schemeClr val="tx2"/>
                </a:solidFill>
              </a:rPr>
              <a:t>Submission of Capstone Project</a:t>
            </a:r>
            <a:r>
              <a:rPr lang="en-GB" altLang="en-US" dirty="0">
                <a:solidFill>
                  <a:schemeClr val="tx2"/>
                </a:solidFill>
              </a:rPr>
              <a:t>: Thursday 6</a:t>
            </a:r>
            <a:r>
              <a:rPr lang="en-GB" altLang="en-US" baseline="30000" dirty="0">
                <a:solidFill>
                  <a:schemeClr val="tx2"/>
                </a:solidFill>
              </a:rPr>
              <a:t>th</a:t>
            </a:r>
            <a:r>
              <a:rPr lang="en-GB" altLang="en-US" dirty="0">
                <a:solidFill>
                  <a:schemeClr val="tx2"/>
                </a:solidFill>
              </a:rPr>
              <a:t> August 2020 (by 5pm, via Moodle, PDF file.)</a:t>
            </a:r>
          </a:p>
          <a:p>
            <a:pPr marL="185737" lvl="1" indent="0" eaLnBrk="1" hangingPunct="1">
              <a:lnSpc>
                <a:spcPct val="90000"/>
              </a:lnSpc>
              <a:buFontTx/>
              <a:buNone/>
              <a:defRPr/>
            </a:pPr>
            <a:endParaRPr lang="en-GB" altLang="en-US" dirty="0">
              <a:solidFill>
                <a:schemeClr val="tx2"/>
              </a:solidFill>
            </a:endParaRPr>
          </a:p>
          <a:p>
            <a:pPr marL="185737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en-US" dirty="0">
                <a:solidFill>
                  <a:schemeClr val="tx2"/>
                </a:solidFill>
              </a:rPr>
              <a:t>You can link to GitHub repository in PDF file, but marking will be based on submitted file.</a:t>
            </a:r>
          </a:p>
          <a:p>
            <a:pPr marL="185737" lvl="1" indent="0" eaLnBrk="1" hangingPunct="1">
              <a:lnSpc>
                <a:spcPct val="90000"/>
              </a:lnSpc>
              <a:buFontTx/>
              <a:buNone/>
              <a:defRPr/>
            </a:pPr>
            <a:endParaRPr lang="en-GB" sz="2000" b="1" i="1" dirty="0">
              <a:solidFill>
                <a:schemeClr val="tx2"/>
              </a:solidFill>
            </a:endParaRPr>
          </a:p>
          <a:p>
            <a:pPr marL="185737" lvl="1" indent="0" eaLnBrk="1" hangingPunct="1">
              <a:lnSpc>
                <a:spcPct val="90000"/>
              </a:lnSpc>
              <a:buFontTx/>
              <a:buNone/>
              <a:defRPr/>
            </a:pPr>
            <a:endParaRPr lang="en-GB" sz="2000" b="1" i="1" dirty="0">
              <a:solidFill>
                <a:schemeClr val="tx2"/>
              </a:solidFill>
            </a:endParaRPr>
          </a:p>
          <a:p>
            <a:pPr marL="185737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GB" sz="2000" b="1" i="1" dirty="0">
                <a:solidFill>
                  <a:schemeClr val="tx2"/>
                </a:solidFill>
              </a:rPr>
              <a:t>Cover page</a:t>
            </a:r>
            <a:r>
              <a:rPr lang="en-GB" sz="2000" i="1" dirty="0">
                <a:solidFill>
                  <a:schemeClr val="tx2"/>
                </a:solidFill>
              </a:rPr>
              <a:t>: candidate number, name of supervisor, date and capstone project title</a:t>
            </a:r>
            <a:endParaRPr lang="en-GB" sz="2000" i="1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The capstone project plan: an evolving blueprint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sz="2800" dirty="0">
                <a:solidFill>
                  <a:schemeClr val="tx2"/>
                </a:solidFill>
              </a:rPr>
              <a:t>In early stages it is a statement of intent </a:t>
            </a:r>
          </a:p>
          <a:p>
            <a:pPr eaLnBrk="1" hangingPunct="1"/>
            <a:r>
              <a:rPr lang="en-GB" altLang="en-US" sz="2800" dirty="0">
                <a:solidFill>
                  <a:schemeClr val="tx2"/>
                </a:solidFill>
              </a:rPr>
              <a:t>A framework to: </a:t>
            </a:r>
          </a:p>
          <a:p>
            <a:pPr lvl="1" eaLnBrk="1" hangingPunct="1"/>
            <a:r>
              <a:rPr lang="en-GB" altLang="en-US" dirty="0">
                <a:solidFill>
                  <a:schemeClr val="tx2"/>
                </a:solidFill>
              </a:rPr>
              <a:t>Give direction to choice of reading</a:t>
            </a:r>
          </a:p>
          <a:p>
            <a:pPr lvl="1" eaLnBrk="1" hangingPunct="1"/>
            <a:r>
              <a:rPr lang="en-GB" altLang="en-US" dirty="0">
                <a:solidFill>
                  <a:schemeClr val="tx2"/>
                </a:solidFill>
              </a:rPr>
              <a:t>Anchor reading in a broader context</a:t>
            </a:r>
          </a:p>
          <a:p>
            <a:pPr lvl="1" eaLnBrk="1" hangingPunct="1"/>
            <a:r>
              <a:rPr lang="en-GB" altLang="en-US" dirty="0">
                <a:solidFill>
                  <a:schemeClr val="tx2"/>
                </a:solidFill>
              </a:rPr>
              <a:t>Consider the pros and cons of different research questions, methodologies, and data sources</a:t>
            </a:r>
          </a:p>
          <a:p>
            <a:pPr lvl="1" eaLnBrk="1" hangingPunct="1"/>
            <a:r>
              <a:rPr lang="en-GB" altLang="en-US" dirty="0">
                <a:solidFill>
                  <a:schemeClr val="tx2"/>
                </a:solidFill>
              </a:rPr>
              <a:t>Organisation of time</a:t>
            </a:r>
          </a:p>
          <a:p>
            <a:pPr eaLnBrk="1" hangingPunct="1"/>
            <a:r>
              <a:rPr lang="en-GB" altLang="en-US" sz="2800" dirty="0">
                <a:solidFill>
                  <a:schemeClr val="tx2"/>
                </a:solidFill>
              </a:rPr>
              <a:t>Over time the plan is modified and developed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Action plan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Start thinking about topics, in a casual way now and more seriously around the new year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Talk to academic adviser and/or other faculty at end of MT/early LT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i="1" dirty="0">
                <a:solidFill>
                  <a:schemeClr val="tx2"/>
                </a:solidFill>
              </a:rPr>
              <a:t>Have something concrete to discuss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When topic is decided (or even before) start identifying and collecting relevant materials – a feasibility check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GB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GB" altLang="en-US"/>
              <a:t>Selecting topics (1)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3993" y="980728"/>
            <a:ext cx="8736013" cy="5472113"/>
          </a:xfrm>
        </p:spPr>
        <p:txBody>
          <a:bodyPr/>
          <a:lstStyle/>
          <a:p>
            <a:pPr marL="0" indent="0" eaLnBrk="1" hangingPunct="1">
              <a:spcAft>
                <a:spcPts val="1200"/>
              </a:spcAft>
              <a:buFontTx/>
              <a:buNone/>
            </a:pPr>
            <a:r>
              <a:rPr lang="en-GB" altLang="en-US" sz="2800" dirty="0">
                <a:solidFill>
                  <a:schemeClr val="tx2"/>
                </a:solidFill>
              </a:rPr>
              <a:t>To be avoided:  </a:t>
            </a:r>
          </a:p>
          <a:p>
            <a:pPr lvl="1" eaLnBrk="1" hangingPunct="1">
              <a:spcAft>
                <a:spcPts val="1200"/>
              </a:spcAft>
            </a:pPr>
            <a:r>
              <a:rPr lang="en-GB" altLang="en-US" dirty="0">
                <a:solidFill>
                  <a:schemeClr val="tx2"/>
                </a:solidFill>
              </a:rPr>
              <a:t>Solely descriptive (e.g. ‘Everything there is to know about sentiment analysis on Twitter or the mechanisms of social mobility’).</a:t>
            </a:r>
          </a:p>
          <a:p>
            <a:pPr lvl="1" eaLnBrk="1" hangingPunct="1">
              <a:spcAft>
                <a:spcPts val="1200"/>
              </a:spcAft>
            </a:pPr>
            <a:r>
              <a:rPr lang="en-GB" altLang="en-US" dirty="0">
                <a:solidFill>
                  <a:schemeClr val="tx2"/>
                </a:solidFill>
              </a:rPr>
              <a:t>Specialised access – wishful thinking about  original data/information (e.g. ‘if I write to ask for access on July 15, they’ll agree and send me the data immediately’).</a:t>
            </a:r>
          </a:p>
          <a:p>
            <a:pPr lvl="1" eaLnBrk="1" hangingPunct="1">
              <a:spcAft>
                <a:spcPts val="1200"/>
              </a:spcAft>
            </a:pPr>
            <a:r>
              <a:rPr lang="en-GB" altLang="en-US" dirty="0">
                <a:solidFill>
                  <a:schemeClr val="tx2"/>
                </a:solidFill>
              </a:rPr>
              <a:t>The PhD topic - don’t pick a topic for your MSc that is so big/ambitious that it is really a 4-year PhD!</a:t>
            </a:r>
            <a:endParaRPr lang="en-GB" altLang="en-US"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pPr eaLnBrk="1" hangingPunct="1"/>
            <a:r>
              <a:rPr lang="en-GB" altLang="en-US"/>
              <a:t>Selecting topics (2)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066800"/>
            <a:ext cx="8642350" cy="5791200"/>
          </a:xfrm>
        </p:spPr>
        <p:txBody>
          <a:bodyPr/>
          <a:lstStyle/>
          <a:p>
            <a:pPr marL="357188" indent="-357188" eaLnBrk="1" hangingPunct="1">
              <a:buFontTx/>
              <a:buNone/>
            </a:pPr>
            <a:r>
              <a:rPr lang="en-GB" altLang="en-US" sz="2700" dirty="0">
                <a:solidFill>
                  <a:schemeClr val="tx2"/>
                </a:solidFill>
              </a:rPr>
              <a:t>You are recommended to:</a:t>
            </a:r>
          </a:p>
          <a:p>
            <a:pPr marL="357188" lvl="1" indent="-357188" eaLnBrk="1" hangingPunct="1"/>
            <a:r>
              <a:rPr lang="en-GB" altLang="en-US" sz="2700" dirty="0">
                <a:solidFill>
                  <a:schemeClr val="tx2"/>
                </a:solidFill>
              </a:rPr>
              <a:t>Think about the size, scale and ambition of topic as being more like a journal article than a book!</a:t>
            </a:r>
          </a:p>
          <a:p>
            <a:pPr marL="357188" lvl="1" indent="-357188" eaLnBrk="1" hangingPunct="1"/>
            <a:r>
              <a:rPr lang="en-GB" altLang="en-US" sz="2700" dirty="0">
                <a:solidFill>
                  <a:schemeClr val="tx2"/>
                </a:solidFill>
              </a:rPr>
              <a:t>Pick questions that seem do-able in the time available</a:t>
            </a:r>
          </a:p>
          <a:p>
            <a:pPr marL="357188" lvl="1" indent="-357188" eaLnBrk="1" hangingPunct="1"/>
            <a:r>
              <a:rPr lang="en-GB" altLang="en-US" sz="2700" dirty="0">
                <a:solidFill>
                  <a:schemeClr val="tx2"/>
                </a:solidFill>
              </a:rPr>
              <a:t>Pursue a project that is theoretically-/ conceptually-/policy- oriented with an  empirical basis</a:t>
            </a:r>
          </a:p>
          <a:p>
            <a:pPr marL="357188" lvl="1" indent="-357188" eaLnBrk="1" hangingPunct="1"/>
            <a:r>
              <a:rPr lang="en-GB" altLang="en-US" sz="2700" dirty="0">
                <a:solidFill>
                  <a:schemeClr val="tx2"/>
                </a:solidFill>
              </a:rPr>
              <a:t>Talk to your supervisor for guidance</a:t>
            </a:r>
          </a:p>
          <a:p>
            <a:pPr marL="357188" lvl="1" indent="-357188" eaLnBrk="1" hangingPunct="1"/>
            <a:r>
              <a:rPr lang="en-GB" altLang="en-US" sz="2700" dirty="0">
                <a:solidFill>
                  <a:schemeClr val="tx2"/>
                </a:solidFill>
              </a:rPr>
              <a:t>Consult good examples of research projects in data science</a:t>
            </a:r>
            <a:endParaRPr lang="en-GB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pPr eaLnBrk="1" hangingPunct="1"/>
            <a:r>
              <a:rPr lang="en-GB" altLang="en-US" dirty="0"/>
              <a:t>A note on internships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066800"/>
            <a:ext cx="8642350" cy="5791200"/>
          </a:xfrm>
        </p:spPr>
        <p:txBody>
          <a:bodyPr/>
          <a:lstStyle/>
          <a:p>
            <a:pPr marL="357188" indent="-357188" eaLnBrk="1" hangingPunct="1">
              <a:buFontTx/>
              <a:buNone/>
            </a:pPr>
            <a:r>
              <a:rPr lang="en-GB" altLang="en-US" sz="2700" dirty="0">
                <a:solidFill>
                  <a:schemeClr val="tx2"/>
                </a:solidFill>
              </a:rPr>
              <a:t>What if you want to use data from an internship or past employment position?</a:t>
            </a:r>
          </a:p>
          <a:p>
            <a:pPr marL="357188" lvl="1" indent="-357188" eaLnBrk="1" hangingPunct="1"/>
            <a:r>
              <a:rPr lang="en-GB" altLang="en-US" sz="2700" dirty="0">
                <a:solidFill>
                  <a:schemeClr val="tx2"/>
                </a:solidFill>
              </a:rPr>
              <a:t>You should discuss expectations with your supervisor (or advisor before that)</a:t>
            </a:r>
          </a:p>
          <a:p>
            <a:pPr marL="357188" lvl="1" indent="-357188" eaLnBrk="1" hangingPunct="1"/>
            <a:r>
              <a:rPr lang="en-GB" altLang="en-US" sz="2700" dirty="0">
                <a:solidFill>
                  <a:schemeClr val="tx2"/>
                </a:solidFill>
              </a:rPr>
              <a:t>Generally accepted, but final output should be same format as other capstone projects</a:t>
            </a:r>
          </a:p>
          <a:p>
            <a:pPr marL="357188" lvl="1" indent="-357188" eaLnBrk="1" hangingPunct="1"/>
            <a:r>
              <a:rPr lang="en-GB" altLang="en-US" sz="2700" dirty="0">
                <a:solidFill>
                  <a:schemeClr val="tx2"/>
                </a:solidFill>
              </a:rPr>
              <a:t>Always check with your employer that they are ok with you re-using the data or code!</a:t>
            </a:r>
          </a:p>
          <a:p>
            <a:pPr marL="357188" lvl="1" indent="-357188" eaLnBrk="1" hangingPunct="1"/>
            <a:r>
              <a:rPr lang="en-GB" altLang="en-US" sz="2700" dirty="0">
                <a:solidFill>
                  <a:schemeClr val="tx2"/>
                </a:solidFill>
              </a:rPr>
              <a:t>If you started your project before joining the MSc programme, it’s important to show what is new</a:t>
            </a:r>
          </a:p>
        </p:txBody>
      </p:sp>
    </p:spTree>
    <p:extLst>
      <p:ext uri="{BB962C8B-B14F-4D97-AF65-F5344CB8AC3E}">
        <p14:creationId xmlns:p14="http://schemas.microsoft.com/office/powerpoint/2010/main" val="426620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65187"/>
          </a:xfrm>
        </p:spPr>
        <p:txBody>
          <a:bodyPr/>
          <a:lstStyle/>
          <a:p>
            <a:pPr eaLnBrk="1" hangingPunct="1"/>
            <a:r>
              <a:rPr lang="en-GB" altLang="en-US"/>
              <a:t>Literature and empirics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052513"/>
            <a:ext cx="8785225" cy="554483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400" dirty="0">
                <a:solidFill>
                  <a:schemeClr val="tx2"/>
                </a:solidFill>
              </a:rPr>
              <a:t>Capstone project needs to be grounded in some (theoretical, substantive, methodological…) academic literature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2400" dirty="0">
              <a:solidFill>
                <a:schemeClr val="tx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n-US" sz="2400" dirty="0">
                <a:solidFill>
                  <a:schemeClr val="tx2"/>
                </a:solidFill>
              </a:rPr>
              <a:t>Capstone project </a:t>
            </a:r>
            <a:r>
              <a:rPr lang="en-GB" altLang="en-US" sz="2400" b="1" dirty="0">
                <a:solidFill>
                  <a:schemeClr val="tx2"/>
                </a:solidFill>
              </a:rPr>
              <a:t>must</a:t>
            </a:r>
            <a:r>
              <a:rPr lang="en-GB" altLang="en-US" sz="2400" dirty="0">
                <a:solidFill>
                  <a:schemeClr val="tx2"/>
                </a:solidFill>
              </a:rPr>
              <a:t> contain empirical research, </a:t>
            </a:r>
            <a:r>
              <a:rPr lang="en-GB" altLang="en-US" sz="2400" dirty="0" err="1">
                <a:solidFill>
                  <a:schemeClr val="tx2"/>
                </a:solidFill>
              </a:rPr>
              <a:t>i.e</a:t>
            </a:r>
            <a:r>
              <a:rPr lang="en-GB" altLang="en-US" sz="2400" dirty="0">
                <a:solidFill>
                  <a:schemeClr val="tx2"/>
                </a:solidFill>
              </a:rPr>
              <a:t> the collection and analysis of: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 dirty="0">
                <a:solidFill>
                  <a:schemeClr val="tx2"/>
                </a:solidFill>
              </a:rPr>
              <a:t>Survey data, census data, ‘big data’ or other quantitative data (primary or secondary data);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 dirty="0">
                <a:solidFill>
                  <a:schemeClr val="tx2"/>
                </a:solidFill>
              </a:rPr>
              <a:t>Data from experiments;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 dirty="0">
                <a:solidFill>
                  <a:schemeClr val="tx2"/>
                </a:solidFill>
              </a:rPr>
              <a:t>Qualitative data – data from interviews, focus groups, ethnographic fieldwork…;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 dirty="0">
                <a:solidFill>
                  <a:schemeClr val="tx2"/>
                </a:solidFill>
              </a:rPr>
              <a:t>Media/documentary materials;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 dirty="0">
                <a:solidFill>
                  <a:schemeClr val="tx2"/>
                </a:solidFill>
              </a:rPr>
              <a:t>etc.</a:t>
            </a:r>
          </a:p>
          <a:p>
            <a:pPr eaLnBrk="1" hangingPunct="1">
              <a:lnSpc>
                <a:spcPct val="80000"/>
              </a:lnSpc>
            </a:pPr>
            <a:endParaRPr lang="en-GB" altLang="en-US" sz="2400" dirty="0">
              <a:solidFill>
                <a:schemeClr val="tx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n-US" sz="2400" dirty="0">
                <a:solidFill>
                  <a:schemeClr val="tx2"/>
                </a:solidFill>
              </a:rPr>
              <a:t>If possible and relevant, consider using multiple sources and or types of data.  Demonstrable experience with multiple methods or data types can give you an advantage over others post-MSc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LSE library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Methodology subject guide</a:t>
            </a:r>
          </a:p>
          <a:p>
            <a:pPr marL="0" indent="0">
              <a:buNone/>
            </a:pPr>
            <a:r>
              <a:rPr lang="en-GB" dirty="0">
                <a:hlinkClick r:id="rId2"/>
              </a:rPr>
              <a:t>http://www.lse.ac.uk/library/collections/subject-guides/methodology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Link to the LSE library data and statistics collections and the specialist support they provide to help you use this material</a:t>
            </a:r>
          </a:p>
          <a:p>
            <a:pPr marL="0" indent="0">
              <a:buNone/>
            </a:pPr>
            <a:r>
              <a:rPr lang="en-GB" dirty="0">
                <a:hlinkClick r:id="rId3"/>
              </a:rPr>
              <a:t>http://www.lse.ac.uk/library/collections/collection-highlights/data-and-statistics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4189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pPr eaLnBrk="1" hangingPunct="1"/>
            <a:r>
              <a:rPr lang="en-GB" altLang="en-US" dirty="0"/>
              <a:t>Surviving the Capstone project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980728"/>
            <a:ext cx="8640960" cy="576064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Get into a working routine and plan time carefully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Write on a regular basis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Set up a file for references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Write first drafts quickly if you can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Keep writing (and track your changes!)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Recognise that periods of confusion and uncertainty are inevitable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Be open to surprises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Training/workshops (LSE LIFE and Library):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solidFill>
                  <a:schemeClr val="tx2"/>
                </a:solidFill>
                <a:hlinkClick r:id="rId3"/>
              </a:rPr>
              <a:t>http://www.lse.ac.uk/Library/Learning-support/Training</a:t>
            </a:r>
            <a:endParaRPr lang="en-GB" altLang="en-US" sz="2400" dirty="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solidFill>
                  <a:schemeClr val="tx2"/>
                </a:solidFill>
                <a:hlinkClick r:id="rId4"/>
              </a:rPr>
              <a:t>http://www.lse.ac.uk/intranet/students/LSE- LIFE/Events/home.aspx</a:t>
            </a:r>
            <a:r>
              <a:rPr lang="en-GB" altLang="en-US" sz="2400" dirty="0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99" y="5671"/>
            <a:ext cx="8229600" cy="903049"/>
          </a:xfrm>
        </p:spPr>
        <p:txBody>
          <a:bodyPr/>
          <a:lstStyle/>
          <a:p>
            <a:pPr eaLnBrk="1" hangingPunct="1"/>
            <a:r>
              <a:rPr lang="en-GB" altLang="en-US" dirty="0"/>
              <a:t>Writing the capstone project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4305" y="937320"/>
            <a:ext cx="8229600" cy="573204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Authoring – managing the reader’s expectations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The importance of fit between the thesis question and the answer delivered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The form of the argument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Structure: use paragraphs, sub-headings, page numbers…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Good to write an outline first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Reference </a:t>
            </a:r>
            <a:r>
              <a:rPr lang="en-GB" i="1" dirty="0"/>
              <a:t>consistently</a:t>
            </a:r>
          </a:p>
          <a:p>
            <a:r>
              <a:rPr lang="en-GB" dirty="0"/>
              <a:t>Page numbers for quotes/citations</a:t>
            </a:r>
          </a:p>
          <a:p>
            <a:r>
              <a:rPr lang="en-GB" dirty="0"/>
              <a:t>Clean-up reference list (order of references, full references…)</a:t>
            </a:r>
          </a:p>
          <a:p>
            <a:r>
              <a:rPr lang="en-GB" dirty="0"/>
              <a:t>Recommend </a:t>
            </a:r>
            <a:r>
              <a:rPr lang="en-GB" dirty="0">
                <a:hlinkClick r:id="rId2"/>
              </a:rPr>
              <a:t>APA reference style</a:t>
            </a:r>
            <a:endParaRPr lang="en-GB" dirty="0"/>
          </a:p>
          <a:p>
            <a:r>
              <a:rPr lang="en-GB" dirty="0"/>
              <a:t>Recommend using bibliographic software (Endnote or </a:t>
            </a:r>
            <a:r>
              <a:rPr lang="en-GB" dirty="0" err="1"/>
              <a:t>Mendeley</a:t>
            </a:r>
            <a:r>
              <a:rPr lang="en-GB" dirty="0"/>
              <a:t>) ASAP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8747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503783"/>
          </a:xfrm>
        </p:spPr>
        <p:txBody>
          <a:bodyPr/>
          <a:lstStyle/>
          <a:p>
            <a:pPr eaLnBrk="1" hangingPunct="1"/>
            <a:r>
              <a:rPr lang="en-GB" altLang="en-US" dirty="0"/>
              <a:t>Handing in	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908721"/>
            <a:ext cx="8497887" cy="583264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400" dirty="0"/>
              <a:t>Submit an electronic PDF copy through MY498 Moodle page by 5pm, Thursday August 8</a:t>
            </a:r>
            <a:r>
              <a:rPr lang="en-GB" altLang="en-US" sz="2400" baseline="30000" dirty="0"/>
              <a:t>th</a:t>
            </a:r>
            <a:r>
              <a:rPr lang="en-GB" altLang="en-US" sz="2400" dirty="0"/>
              <a:t> 2019 – </a:t>
            </a:r>
            <a:r>
              <a:rPr lang="en-GB" altLang="en-US" sz="2400" b="1" dirty="0"/>
              <a:t>no hard copy is required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GB" altLang="en-US" sz="2400" b="1" dirty="0"/>
          </a:p>
          <a:p>
            <a:pPr eaLnBrk="1" hangingPunct="1">
              <a:lnSpc>
                <a:spcPct val="80000"/>
              </a:lnSpc>
            </a:pPr>
            <a:r>
              <a:rPr lang="en-GB" altLang="en-US" sz="2400" dirty="0"/>
              <a:t>Capstone project should be word-processed (A4 double-spaced)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GB" altLang="en-US" sz="2400" dirty="0"/>
          </a:p>
          <a:p>
            <a:pPr eaLnBrk="1" hangingPunct="1">
              <a:lnSpc>
                <a:spcPct val="80000"/>
              </a:lnSpc>
            </a:pPr>
            <a:r>
              <a:rPr lang="en-GB" altLang="en-US" sz="2400" dirty="0"/>
              <a:t>Tables, figures, and references do not count towards the word count (unless overly text-heavy)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GB" altLang="en-US" sz="2400" dirty="0"/>
          </a:p>
          <a:p>
            <a:pPr eaLnBrk="1" hangingPunct="1">
              <a:lnSpc>
                <a:spcPct val="80000"/>
              </a:lnSpc>
            </a:pPr>
            <a:r>
              <a:rPr lang="en-GB" altLang="en-US" sz="2400" dirty="0"/>
              <a:t>Appendix does not count towards the 10,000 words (</a:t>
            </a:r>
            <a:r>
              <a:rPr lang="en-GB" altLang="en-US" sz="2400" b="1" dirty="0"/>
              <a:t>but</a:t>
            </a:r>
            <a:r>
              <a:rPr lang="en-GB" altLang="en-US" sz="2400" dirty="0"/>
              <a:t> must be no more than 10 sides)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000" dirty="0"/>
              <a:t>Can be used to present ‘raw data’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endParaRPr lang="en-GB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GB" altLang="en-US" sz="2400" dirty="0"/>
              <a:t>See departmental ‘Coursework Submission Deadlines’ for submission particulars (submitting via Moodle, word limits, extensions, late penalties…)</a:t>
            </a: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Char char="·"/>
            </a:pPr>
            <a:endParaRPr lang="en-GB" altLang="en-US" sz="2000" dirty="0"/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Char char="·"/>
            </a:pPr>
            <a:endParaRPr lang="en-GB" alt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 note on self-plagiarism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450"/>
          </a:xfrm>
        </p:spPr>
        <p:txBody>
          <a:bodyPr/>
          <a:lstStyle/>
          <a:p>
            <a:pPr>
              <a:defRPr/>
            </a:pPr>
            <a:r>
              <a:rPr lang="en-GB" dirty="0"/>
              <a:t>As part of </a:t>
            </a:r>
            <a:r>
              <a:rPr lang="en-GB" dirty="0">
                <a:hlinkClick r:id="rId3"/>
              </a:rPr>
              <a:t>LSE plagiarism policy </a:t>
            </a:r>
            <a:r>
              <a:rPr lang="en-GB" dirty="0"/>
              <a:t>school has a strict view on self-plagiarism:</a:t>
            </a:r>
          </a:p>
          <a:p>
            <a:pPr>
              <a:lnSpc>
                <a:spcPct val="50000"/>
              </a:lnSpc>
              <a:spcBef>
                <a:spcPts val="0"/>
              </a:spcBef>
              <a:defRPr/>
            </a:pPr>
            <a:endParaRPr lang="en-GB" dirty="0"/>
          </a:p>
          <a:p>
            <a:pPr marL="0" indent="0">
              <a:buFontTx/>
              <a:buNone/>
              <a:defRPr/>
            </a:pPr>
            <a:r>
              <a:rPr lang="en-GB" sz="2400" i="1" dirty="0"/>
              <a:t>A piece of work may only be submitted for assessment once either to the LSE or elsewhere. Submitting the same work twice will be regarded as an offence of 'self-plagiarism' and will be considered under…[the LSE Plagiarism] Regulations. However, earlier essay work may be used as an element of a dissertation, provided that the amount of earlier work used is acceptable to the department and the work is properly referenced.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Methodology exception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MSc ASDS students are permitted by the department to re-use verbatim up to 50% of your second MY400 assignment in your capstone project</a:t>
            </a:r>
          </a:p>
          <a:p>
            <a:endParaRPr lang="en-GB" altLang="en-US" dirty="0"/>
          </a:p>
          <a:p>
            <a:r>
              <a:rPr lang="en-GB" altLang="en-US" dirty="0"/>
              <a:t>May also re-use parts of course submissions (e.g. in MY459) if approved by course instructor and your supervisor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Funding opportunities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/>
          <a:lstStyle/>
          <a:p>
            <a:r>
              <a:rPr lang="en-GB" altLang="en-US" sz="2800" dirty="0"/>
              <a:t>The Department will offer limited funding to MSc students to support original data collection that is </a:t>
            </a:r>
            <a:r>
              <a:rPr lang="en-GB" altLang="en-US" sz="2800" b="1" dirty="0"/>
              <a:t>essential</a:t>
            </a:r>
            <a:r>
              <a:rPr lang="en-GB" altLang="en-US" sz="2800" dirty="0"/>
              <a:t> for your capstone project</a:t>
            </a:r>
          </a:p>
          <a:p>
            <a:r>
              <a:rPr lang="en-GB" altLang="en-US" sz="2800" dirty="0"/>
              <a:t>Awards are not to exceed £500 per student. Current budget is £2,000 for both MSc programmes</a:t>
            </a:r>
          </a:p>
          <a:p>
            <a:r>
              <a:rPr lang="en-GB" altLang="en-US" sz="2800" dirty="0"/>
              <a:t>Grants may support: </a:t>
            </a:r>
          </a:p>
          <a:p>
            <a:pPr lvl="1"/>
            <a:r>
              <a:rPr lang="en-US" sz="1600" dirty="0"/>
              <a:t>research materials and equipment, proprietary software, data purchases, payments to experimental subjects, travel to and from research sites, and similar expenses related to original data collection and innovative data analysis. </a:t>
            </a:r>
            <a:endParaRPr lang="en-GB" altLang="en-US" sz="1600" dirty="0"/>
          </a:p>
          <a:p>
            <a:r>
              <a:rPr lang="en-GB" altLang="en-US" sz="2800" dirty="0"/>
              <a:t>Deadline for proposals: Friday of week 4 of LT</a:t>
            </a:r>
          </a:p>
          <a:p>
            <a:r>
              <a:rPr lang="en-GB" altLang="en-US" sz="2800" dirty="0"/>
              <a:t>More information coming soon</a:t>
            </a:r>
          </a:p>
        </p:txBody>
      </p:sp>
    </p:spTree>
    <p:extLst>
      <p:ext uri="{BB962C8B-B14F-4D97-AF65-F5344CB8AC3E}">
        <p14:creationId xmlns:p14="http://schemas.microsoft.com/office/powerpoint/2010/main" val="39386177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GB" dirty="0"/>
              <a:t>Looking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435280" cy="5256584"/>
          </a:xfrm>
        </p:spPr>
        <p:txBody>
          <a:bodyPr/>
          <a:lstStyle/>
          <a:p>
            <a:r>
              <a:rPr lang="en-GB" sz="2800" b="1" dirty="0"/>
              <a:t>LSE PhD admissions:</a:t>
            </a:r>
          </a:p>
          <a:p>
            <a:pPr marL="0" indent="0">
              <a:buNone/>
            </a:pPr>
            <a:r>
              <a:rPr lang="en-GB" sz="2800" u="sng" dirty="0"/>
              <a:t>LSE admissions</a:t>
            </a:r>
            <a:r>
              <a:rPr lang="en-GB" sz="2800" dirty="0"/>
              <a:t>: </a:t>
            </a:r>
          </a:p>
          <a:p>
            <a:pPr marL="0" indent="0">
              <a:buNone/>
            </a:pPr>
            <a:r>
              <a:rPr lang="en-GB" sz="2800" dirty="0">
                <a:hlinkClick r:id="rId2"/>
              </a:rPr>
              <a:t>http://www.lse.ac.uk/study-at-lse/Graduate/Prospective-students/How-to-Apply/When-to-apply</a:t>
            </a:r>
            <a:endParaRPr lang="en-GB" sz="2800" dirty="0"/>
          </a:p>
          <a:p>
            <a:pPr marL="0" indent="0">
              <a:buNone/>
            </a:pPr>
            <a:r>
              <a:rPr lang="en-GB" sz="2800" dirty="0"/>
              <a:t> - 7</a:t>
            </a:r>
            <a:r>
              <a:rPr lang="en-GB" sz="2800" baseline="30000" dirty="0"/>
              <a:t>th</a:t>
            </a:r>
            <a:r>
              <a:rPr lang="en-GB" sz="2800" dirty="0"/>
              <a:t> January 2019 (first funding panel deadline)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u="sng" dirty="0"/>
              <a:t>Department of Methodology admissions information</a:t>
            </a:r>
            <a:r>
              <a:rPr lang="en-GB" sz="2800" dirty="0"/>
              <a:t>:</a:t>
            </a:r>
          </a:p>
          <a:p>
            <a:pPr marL="0" indent="0">
              <a:buNone/>
            </a:pPr>
            <a:r>
              <a:rPr lang="en-GB" sz="2800" dirty="0">
                <a:hlinkClick r:id="rId3"/>
              </a:rPr>
              <a:t>http://www.lse.ac.uk/Methodology/Study/PhD-Social-Research-Methods/PhD-Social-Research-Methods</a:t>
            </a:r>
            <a:r>
              <a:rPr lang="en-GB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0060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395288" y="21586"/>
            <a:ext cx="8229600" cy="936625"/>
          </a:xfrm>
        </p:spPr>
        <p:txBody>
          <a:bodyPr/>
          <a:lstStyle/>
          <a:p>
            <a:r>
              <a:rPr lang="en-GB" altLang="en-US" dirty="0"/>
              <a:t>Finally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1052513"/>
            <a:ext cx="8229600" cy="56896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GB" sz="2800" b="1" dirty="0"/>
              <a:t>Getting involved in the department</a:t>
            </a:r>
            <a:endParaRPr lang="en-GB" sz="2800" dirty="0"/>
          </a:p>
          <a:p>
            <a:pPr>
              <a:defRPr/>
            </a:pPr>
            <a:r>
              <a:rPr lang="en-GB" sz="2000" dirty="0"/>
              <a:t>We just had our first Staff-Student Liaison Committee (SSLC) meeting yesterday (Another one to come next term!)</a:t>
            </a:r>
          </a:p>
          <a:p>
            <a:pPr>
              <a:defRPr/>
            </a:pPr>
            <a:r>
              <a:rPr lang="en-GB" sz="2000" dirty="0"/>
              <a:t>Opportunity to discuss all aspects of graduate teaching, such as comments on:</a:t>
            </a:r>
          </a:p>
          <a:p>
            <a:pPr lvl="1">
              <a:defRPr/>
            </a:pPr>
            <a:r>
              <a:rPr lang="en-GB" sz="1600" dirty="0"/>
              <a:t>the quality of teaching in lectures and seminars</a:t>
            </a:r>
          </a:p>
          <a:p>
            <a:pPr lvl="1">
              <a:defRPr/>
            </a:pPr>
            <a:r>
              <a:rPr lang="en-GB" sz="1600" dirty="0"/>
              <a:t>LSE Library</a:t>
            </a:r>
          </a:p>
          <a:p>
            <a:pPr lvl="1">
              <a:defRPr/>
            </a:pPr>
            <a:r>
              <a:rPr lang="en-GB" sz="1600" dirty="0"/>
              <a:t>IT services</a:t>
            </a:r>
          </a:p>
          <a:p>
            <a:pPr marL="457200" lvl="1" indent="0">
              <a:buNone/>
              <a:defRPr/>
            </a:pPr>
            <a:endParaRPr lang="en-GB" sz="1600" dirty="0"/>
          </a:p>
          <a:p>
            <a:r>
              <a:rPr lang="en-GB" sz="2000" dirty="0"/>
              <a:t>If you were unable to attend the meeting you can contact your elected MSc ASDS reps (Carly </a:t>
            </a:r>
            <a:r>
              <a:rPr lang="en-GB" sz="2000" dirty="0" err="1"/>
              <a:t>Gottorff</a:t>
            </a:r>
            <a:r>
              <a:rPr lang="en-GB" sz="2000" dirty="0"/>
              <a:t> [</a:t>
            </a:r>
            <a:r>
              <a:rPr lang="en-GB" sz="2000" u="sng" dirty="0" err="1"/>
              <a:t>C.E.Gottorff@lse.ac.uk</a:t>
            </a:r>
            <a:r>
              <a:rPr lang="en-GB" sz="2000" dirty="0"/>
              <a:t>] and Anne </a:t>
            </a:r>
            <a:r>
              <a:rPr lang="en-GB" sz="2000" dirty="0" err="1"/>
              <a:t>Blanken</a:t>
            </a:r>
            <a:r>
              <a:rPr lang="en-GB" sz="2000" dirty="0"/>
              <a:t> [</a:t>
            </a:r>
            <a:r>
              <a:rPr lang="en-GB" sz="2000" u="sng" dirty="0" err="1"/>
              <a:t>A.T.Blanken@lse.ac.uk</a:t>
            </a:r>
            <a:r>
              <a:rPr lang="en-GB" sz="2000" u="sng" dirty="0"/>
              <a:t>]</a:t>
            </a:r>
            <a:r>
              <a:rPr lang="en-GB" sz="2000" dirty="0"/>
              <a:t>) with any comments or feedback you may have on the programme or the wider LSE.</a:t>
            </a:r>
          </a:p>
          <a:p>
            <a:r>
              <a:rPr lang="en-GB" sz="2000" dirty="0"/>
              <a:t>If you have any items for the agenda next time, please let Anna know (</a:t>
            </a:r>
            <a:r>
              <a:rPr lang="en-GB" sz="2000" dirty="0" err="1"/>
              <a:t>Methodology.Admin@lse.ac.uk</a:t>
            </a:r>
            <a:r>
              <a:rPr lang="en-GB" sz="2000" dirty="0"/>
              <a:t>).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Really finally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Any interest in setting-up department society?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Course choice is now closed for students, but still possible (until Friday) if you contact Anna.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623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758101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950" y="1196975"/>
            <a:ext cx="8928100" cy="2232025"/>
          </a:xfrm>
        </p:spPr>
        <p:txBody>
          <a:bodyPr/>
          <a:lstStyle/>
          <a:p>
            <a:pPr eaLnBrk="1" hangingPunct="1"/>
            <a:br>
              <a:rPr lang="en-GB" altLang="en-US" sz="4000" dirty="0"/>
            </a:br>
            <a:r>
              <a:rPr lang="en-GB" altLang="en-US" sz="4000" dirty="0">
                <a:solidFill>
                  <a:schemeClr val="bg2"/>
                </a:solidFill>
              </a:rPr>
              <a:t>MY 498</a:t>
            </a:r>
            <a:br>
              <a:rPr lang="en-GB" altLang="en-US" sz="4000" dirty="0">
                <a:solidFill>
                  <a:schemeClr val="bg2"/>
                </a:solidFill>
              </a:rPr>
            </a:br>
            <a:r>
              <a:rPr lang="en-GB" altLang="en-US" sz="3600" dirty="0">
                <a:solidFill>
                  <a:schemeClr val="bg2"/>
                </a:solidFill>
              </a:rPr>
              <a:t>MSc Applied Social Data Science</a:t>
            </a:r>
            <a:br>
              <a:rPr lang="en-GB" altLang="en-US" sz="4000" dirty="0"/>
            </a:br>
            <a:r>
              <a:rPr lang="en-GB" altLang="en-US" sz="3600" dirty="0"/>
              <a:t>Capstone project seminars: introduction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4149725"/>
            <a:ext cx="6400800" cy="9350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 dirty="0">
                <a:solidFill>
                  <a:schemeClr val="bg2"/>
                </a:solidFill>
              </a:rPr>
              <a:t>21 October 2019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800" dirty="0">
                <a:solidFill>
                  <a:schemeClr val="bg2"/>
                </a:solidFill>
              </a:rPr>
              <a:t>Prof. Kenneth Benoit</a:t>
            </a:r>
          </a:p>
          <a:p>
            <a:pPr eaLnBrk="1" hangingPunct="1">
              <a:lnSpc>
                <a:spcPct val="80000"/>
              </a:lnSpc>
            </a:pPr>
            <a:endParaRPr lang="en-GB" altLang="en-US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n-US" sz="2800" dirty="0">
                <a:solidFill>
                  <a:schemeClr val="tx2"/>
                </a:solidFill>
              </a:rPr>
              <a:t> </a:t>
            </a:r>
          </a:p>
        </p:txBody>
      </p:sp>
      <p:pic>
        <p:nvPicPr>
          <p:cNvPr id="205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87738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879327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3912</TotalTime>
  <Words>2480</Words>
  <Application>Microsoft Macintosh PowerPoint</Application>
  <PresentationFormat>On-screen Show (4:3)</PresentationFormat>
  <Paragraphs>285</Paragraphs>
  <Slides>31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Symbol</vt:lpstr>
      <vt:lpstr>Times New Roman</vt:lpstr>
      <vt:lpstr>Default Design</vt:lpstr>
      <vt:lpstr> MY 498 MSc Applied Social Data Science Capstone project seminars: introduction</vt:lpstr>
      <vt:lpstr>Further seminars</vt:lpstr>
      <vt:lpstr>Capstone project: A paradigm shift?</vt:lpstr>
      <vt:lpstr>Practical considerations</vt:lpstr>
      <vt:lpstr>Examples</vt:lpstr>
      <vt:lpstr>Practical  considerations</vt:lpstr>
      <vt:lpstr>1st Project Plan: a provisional statement of intent (1-2 pages)</vt:lpstr>
      <vt:lpstr>Supervision</vt:lpstr>
      <vt:lpstr>Supervision</vt:lpstr>
      <vt:lpstr>Key dates</vt:lpstr>
      <vt:lpstr>On back of presentation…</vt:lpstr>
      <vt:lpstr>Key dates</vt:lpstr>
      <vt:lpstr>The capstone project plan: an evolving blueprint</vt:lpstr>
      <vt:lpstr>Action plan</vt:lpstr>
      <vt:lpstr>Selecting topics (1)</vt:lpstr>
      <vt:lpstr>Selecting topics (2)</vt:lpstr>
      <vt:lpstr>A note on internships</vt:lpstr>
      <vt:lpstr>Literature and empirics</vt:lpstr>
      <vt:lpstr>LSE library resources</vt:lpstr>
      <vt:lpstr>Surviving the Capstone project</vt:lpstr>
      <vt:lpstr>Writing the capstone project</vt:lpstr>
      <vt:lpstr>Referencing</vt:lpstr>
      <vt:lpstr>Handing in </vt:lpstr>
      <vt:lpstr>A note on self-plagiarism</vt:lpstr>
      <vt:lpstr>Methodology exception</vt:lpstr>
      <vt:lpstr>Funding opportunities</vt:lpstr>
      <vt:lpstr>Looking forward</vt:lpstr>
      <vt:lpstr>Finally</vt:lpstr>
      <vt:lpstr>Really finally</vt:lpstr>
      <vt:lpstr>Any questions?</vt:lpstr>
      <vt:lpstr> MY 498 MSc Applied Social Data Science Capstone project seminars: introduction</vt:lpstr>
    </vt:vector>
  </TitlesOfParts>
  <Company>London School of Economics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AND WRITING AN M.Sc  DISSERTATION</dc:title>
  <dc:creator>LSE User</dc:creator>
  <cp:lastModifiedBy>Benoit,KR</cp:lastModifiedBy>
  <cp:revision>153</cp:revision>
  <cp:lastPrinted>2017-10-19T09:16:34Z</cp:lastPrinted>
  <dcterms:created xsi:type="dcterms:W3CDTF">2000-01-19T12:03:34Z</dcterms:created>
  <dcterms:modified xsi:type="dcterms:W3CDTF">2019-10-21T07:49:55Z</dcterms:modified>
</cp:coreProperties>
</file>